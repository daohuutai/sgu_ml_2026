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4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5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ở đầu" id="{eda60882-2360-73b5-765b-b5f7bdd7927f}">
          <p14:sldIdLst>
            <p14:sldId id="256"/>
            <p14:sldId id="257"/>
            <p14:sldId id="258"/>
            <p14:sldId id="259"/>
          </p14:sldIdLst>
        </p14:section>
        <p14:section name="Dữ liệu" id="{11085a5e-2020-b2d2-1b8c-d8342f861a6e}">
          <p14:sldIdLst>
            <p14:sldId id="260"/>
            <p14:sldId id="261"/>
          </p14:sldIdLst>
        </p14:section>
        <p14:section name="Khám phá dữ liệu" id="{c255e82f-6fa6-27e3-dd56-526c665f65c1}">
          <p14:sldIdLst>
            <p14:sldId id="262"/>
            <p14:sldId id="263"/>
            <p14:sldId id="264"/>
            <p14:sldId id="265"/>
          </p14:sldIdLst>
        </p14:section>
        <p14:section name="Tiền xử lý" id="{ef718a6d-9755-b17c-6a62-c204d9254ae4}">
          <p14:sldIdLst>
            <p14:sldId id="266"/>
            <p14:sldId id="267"/>
            <p14:sldId id="268"/>
          </p14:sldIdLst>
        </p14:section>
        <p14:section name="Mô hình" id="{7b8d1638-7fbc-f1bf-50a6-41863ad41a4b}">
          <p14:sldIdLst>
            <p14:sldId id="269"/>
            <p14:sldId id="270"/>
            <p14:sldId id="271"/>
            <p14:sldId id="272"/>
          </p14:sldIdLst>
        </p14:section>
        <p14:section name="Kết quả" id="{4698c6e4-8ec3-0fdf-e063-453a41e4811c}">
          <p14:sldIdLst>
            <p14:sldId id="273"/>
          </p14:sldIdLst>
        </p14:section>
        <p14:section name="Kết luận" id="{dc5e9b81-1746-b0ab-d14a-8e9cc564adb6}">
          <p14:sldIdLst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Skew</c:v>
                </c:pt>
              </c:strCache>
            </c:strRef>
          </c:tx>
          <c:spPr>
            <a:solidFill>
              <a:srgbClr val="2E3A8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16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3A8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6217F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Gốc</c:v>
                  </c:pt>
                  <c:pt idx="1">
                    <c:v>Sau log1p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1.88</c:v>
                </c:pt>
                <c:pt idx="1">
                  <c:v>0.12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4161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4161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4"/>
          <c:min val="0"/>
        </c:scaling>
        <c:delete val="1"/>
        <c:axPos val="b"/>
        <c:majorGridlines>
          <c:spPr>
            <a:ln w="6350" cap="flat">
              <a:solidFill>
                <a:srgbClr val="E8EEF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5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Tương quan</c:v>
                </c:pt>
              </c:strCache>
            </c:strRef>
          </c:tx>
          <c:spPr>
            <a:solidFill>
              <a:srgbClr val="2E3A8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16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OverallQual</c:v>
                  </c:pt>
                  <c:pt idx="1">
                    <c:v>GrLivArea</c:v>
                  </c:pt>
                  <c:pt idx="2">
                    <c:v>GarageCars</c:v>
                  </c:pt>
                  <c:pt idx="3">
                    <c:v>GarageArea</c:v>
                  </c:pt>
                  <c:pt idx="4">
                    <c:v>TotalBsmtSF</c:v>
                  </c:pt>
                  <c:pt idx="5">
                    <c:v>1stFlrSF</c:v>
                  </c:pt>
                  <c:pt idx="6">
                    <c:v>FullBath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0.79</c:v>
                </c:pt>
                <c:pt idx="1">
                  <c:v>0.71</c:v>
                </c:pt>
                <c:pt idx="2">
                  <c:v>0.64</c:v>
                </c:pt>
                <c:pt idx="3">
                  <c:v>0.62</c:v>
                </c:pt>
                <c:pt idx="4">
                  <c:v>0.61</c:v>
                </c:pt>
                <c:pt idx="5">
                  <c:v>0.61</c:v>
                </c:pt>
                <c:pt idx="6">
                  <c:v>0.56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4161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4161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5"/>
          <c:min val="0"/>
        </c:scaling>
        <c:delete val="1"/>
        <c:axPos val="b"/>
        <c:majorGridlines>
          <c:spPr>
            <a:ln w="6350" cap="flat">
              <a:solidFill>
                <a:srgbClr val="E8EEF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5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Thiếu (%)</c:v>
                </c:pt>
              </c:strCache>
            </c:strRef>
          </c:tx>
          <c:spPr>
            <a:solidFill>
              <a:srgbClr val="E6217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16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6217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6217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6217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6217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7F9BE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7F9BE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7F9BE0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PoolQC</c:v>
                  </c:pt>
                  <c:pt idx="1">
                    <c:v>MiscFeature</c:v>
                  </c:pt>
                  <c:pt idx="2">
                    <c:v>Alley</c:v>
                  </c:pt>
                  <c:pt idx="3">
                    <c:v>Fence</c:v>
                  </c:pt>
                  <c:pt idx="4">
                    <c:v>MasVnrType</c:v>
                  </c:pt>
                  <c:pt idx="5">
                    <c:v>FireplaceQu</c:v>
                  </c:pt>
                  <c:pt idx="6">
                    <c:v>LotFrontage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99.52</c:v>
                </c:pt>
                <c:pt idx="1">
                  <c:v>96.3</c:v>
                </c:pt>
                <c:pt idx="2">
                  <c:v>93.77</c:v>
                </c:pt>
                <c:pt idx="3">
                  <c:v>80.75</c:v>
                </c:pt>
                <c:pt idx="4">
                  <c:v>59.73</c:v>
                </c:pt>
                <c:pt idx="5">
                  <c:v>47.26</c:v>
                </c:pt>
                <c:pt idx="6">
                  <c:v>17.74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4161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4161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8"/>
          <c:min val="0"/>
        </c:scaling>
        <c:delete val="1"/>
        <c:axPos val="b"/>
        <c:majorGridlines>
          <c:spPr>
            <a:ln w="6350" cap="flat">
              <a:solidFill>
                <a:srgbClr val="E8EEF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5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 RMSE</c:v>
                </c:pt>
              </c:strCache>
            </c:strRef>
          </c:tx>
          <c:spPr>
            <a:solidFill>
              <a:srgbClr val="E6217F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16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6217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3A8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3A8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3A8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E3A8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E3A8C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Blend</c:v>
                  </c:pt>
                  <c:pt idx="1">
                    <c:v>Lasso</c:v>
                  </c:pt>
                  <c:pt idx="2">
                    <c:v>Ridge</c:v>
                  </c:pt>
                  <c:pt idx="3">
                    <c:v>Gradient Boosting</c:v>
                  </c:pt>
                  <c:pt idx="4">
                    <c:v>Linear Regression</c:v>
                  </c:pt>
                  <c:pt idx="5">
                    <c:v>Random Forest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0.1113</c:v>
                </c:pt>
                <c:pt idx="1">
                  <c:v>0.1133</c:v>
                </c:pt>
                <c:pt idx="2">
                  <c:v>0.1134</c:v>
                </c:pt>
                <c:pt idx="3">
                  <c:v>0.1205</c:v>
                </c:pt>
                <c:pt idx="4">
                  <c:v>0.1249</c:v>
                </c:pt>
                <c:pt idx="5">
                  <c:v>0.133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1000" u="none">
                  <a:solidFill>
                    <a:srgbClr val="14161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4161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165"/>
          <c:min val="0"/>
        </c:scaling>
        <c:delete val="1"/>
        <c:axPos val="b"/>
        <c:majorGridlines>
          <c:spPr>
            <a:ln w="6350" cap="flat">
              <a:solidFill>
                <a:srgbClr val="E8EEF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5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Độ quan trọng (%)</c:v>
                </c:pt>
              </c:strCache>
            </c:strRef>
          </c:tx>
          <c:spPr>
            <a:solidFill>
              <a:srgbClr val="E6217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16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6217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3A8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6217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6217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E3A8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E3A8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E3A8C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E6217F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2E3A8C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2E3A8C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TotalSF</c:v>
                  </c:pt>
                  <c:pt idx="1">
                    <c:v>OverallQual</c:v>
                  </c:pt>
                  <c:pt idx="2">
                    <c:v>OverallScore</c:v>
                  </c:pt>
                  <c:pt idx="3">
                    <c:v>TotalBath</c:v>
                  </c:pt>
                  <c:pt idx="4">
                    <c:v>GarageCars</c:v>
                  </c:pt>
                  <c:pt idx="5">
                    <c:v>KitchenQual</c:v>
                  </c:pt>
                  <c:pt idx="6">
                    <c:v>LotArea</c:v>
                  </c:pt>
                  <c:pt idx="7">
                    <c:v>HouseAge</c:v>
                  </c:pt>
                  <c:pt idx="8">
                    <c:v>FireplaceQu</c:v>
                  </c:pt>
                  <c:pt idx="9">
                    <c:v>GarageFinish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36.2</c:v>
                </c:pt>
                <c:pt idx="1">
                  <c:v>30</c:v>
                </c:pt>
                <c:pt idx="2">
                  <c:v>5.5</c:v>
                </c:pt>
                <c:pt idx="3">
                  <c:v>4.3</c:v>
                </c:pt>
                <c:pt idx="4">
                  <c:v>1.9</c:v>
                </c:pt>
                <c:pt idx="5">
                  <c:v>1.7</c:v>
                </c:pt>
                <c:pt idx="6">
                  <c:v>1.6</c:v>
                </c:pt>
                <c:pt idx="7">
                  <c:v>1.5</c:v>
                </c:pt>
                <c:pt idx="8">
                  <c:v>1.3</c:v>
                </c:pt>
                <c:pt idx="9">
                  <c:v>1.2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4161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4161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2"/>
          <c:min val="0"/>
        </c:scaling>
        <c:delete val="1"/>
        <c:axPos val="b"/>
        <c:majorGridlines>
          <c:spPr>
            <a:ln w="6350" cap="flat">
              <a:solidFill>
                <a:srgbClr val="E8EEF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5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Giới thiệu đề tài: dự đoán giá bán nhà trên bộ dữ liệu Ames Housing (Lab 03), nhóm lớp DCT124C3.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Giới thiệu thành viên nhóm. Trần Lê Gia Bảo là nhóm trưởng.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Báo cáo gồm 6 phần theo đúng quy trình làm bài.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Bài toán hồi quy có giám sát: dự đoán SalePrice từ 79 đặc trưng. Đánh giá bằng RMSE trên log(SalePrice) và R².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Bộ dữ liệu Ames Housing: 1460 nhà train có giá, 1459 nhà test cần dự đoán, 79 đặc trưng, 19 cột có giá trị thiếu.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Quy trình 5 bước, chạy bằng một lệnh: python src/main.py.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SalePrice lệch phải mạnh (skew 1.88), sau log1p còn 0.12 nên phân phối gần chuẩn hơn.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OverallQual (0.79) và GrLivArea (0.71) là hai biến tương quan mạnh nhất với giá.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 19 cột chứa giá trị thiếu. Các cột thiếu nhiều nhất là PoolQC, MiscFeature, Alley, Fence.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Bốn nhà có GrLivArea từ 4000 sqft trở lên bị loại theo khuyến nghị của tác giả bộ dữ liệu. Hai căn trong đó bán giá thấp bất thường.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Mỗi nhóm cột có cách điền riêng dựa trên data_description.txt.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Ordinal cho cột chất lượng, log1p cho biến lệch, One-Hot cho biến phân loại. Kết quả 247 đặc trưng.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Các đặc trưng mới dựa trên ý nghĩa thực tế của bất động sản.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Mô hình tuyến tính dùng RobustScaler trong pipeline. Blend là trung bình dự đoán out-of-fold của Ridge, Lasso và Gradient Boosting.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Blend có CV RMSE thấp nhất 0.1113. Random Forest kém nhất vì không tận dụng tốt quan hệ gần tuyến tính của dữ liệu đã 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Blend đạt CV RMSE 0.1113 và R² 0.921 (out-of-fold). Ridge và Lasso có R² khoảng 0.907 trên tập Val 80/20.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TotalSF và OverallQual chiếm khoảng 66% độ quan trọng. Bốn trong mười đặc trưng hàng đầu là đặc trưng tự tạo.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Điểm dự đoán out-of-fold nằm sát đường chéo, phần dư phân bố quanh 0. Mô hình cuối được huấn luyện lại trên toàn bộ train.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Tổng kết: quy trình hoàn chỉnh cho kết quả tốt với Blend. Hạn chế chính là siêu tham số chưa được tinh chỉnh.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Cảm ơn thầy cô và các bạn đã lắng nghe.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TL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TR-image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TC-image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END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accent6"/>
                </a:solidFill>
              </a:rPr>
              <a:t>DCT124C3  ·  Lab 03  ·  Dự đoán giá nhà Ames Housing</a:t>
            </a:r>
            <a:endParaRPr lang="en-US" sz="75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160520" y="1051560"/>
            <a:ext cx="43891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863840" y="4572000"/>
            <a:ext cx="7315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L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accent6"/>
                </a:solidFill>
              </a:rPr>
              <a:t>DCT124C3  ·  Lab 03  ·  Dự đoán giá nhà Ames Housing</a:t>
            </a:r>
            <a:endParaRPr lang="en-US" sz="75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94360" y="502920"/>
            <a:ext cx="51206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5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863840" y="4572000"/>
            <a:ext cx="7315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accent6"/>
                </a:solidFill>
              </a:rPr>
              <a:t>DCT124C3  ·  Lab 03  ·  Dự đoán giá nhà Ames Housing</a:t>
            </a:r>
            <a:endParaRPr lang="en-US" sz="75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3474720" y="502920"/>
            <a:ext cx="51206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2500" b="1" dirty="0">
                <a:solidFill>
                  <a:schemeClr val="tx1"/>
                </a:solidFill>
              </a:defRPr>
            </a:lvl1pPr>
          </a:lstStyle>
          <a:p>
            <a:pPr algn="r" indent="0" marL="0">
              <a:buNone/>
            </a:pP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863840" y="4572000"/>
            <a:ext cx="7315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C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accent6"/>
                </a:solidFill>
              </a:rPr>
              <a:t>DCT124C3  ·  Lab 03  ·  Dự đoán giá nhà Ames Housing</a:t>
            </a:r>
            <a:endParaRPr lang="en-US" sz="75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371600" y="502920"/>
            <a:ext cx="64008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500" b="1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863840" y="4572000"/>
            <a:ext cx="7315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accent6"/>
                </a:solidFill>
              </a:rPr>
              <a:t>DCT124C3  ·  Lab 03  ·  Dự đoán giá nhà Ames Housing</a:t>
            </a:r>
            <a:endParaRPr lang="en-US" sz="75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118872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863840" y="4572000"/>
            <a:ext cx="7315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863840" y="4572000"/>
            <a:ext cx="7315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image" Target="../media/image-1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sometric servers and laptop" descr="Isometric servers and lapto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85800"/>
            <a:ext cx="3368040" cy="3749040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1" type="title" hasCustomPrompt="1"/>
          </p:nvPr>
        </p:nvSpPr>
        <p:spPr>
          <a:xfrm>
            <a:off x="4160520" y="105156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Dự đoán giá nhà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Ames Housing</a:t>
            </a:r>
            <a:endParaRPr lang="en-US" sz="3400" dirty="0"/>
          </a:p>
        </p:txBody>
      </p:sp>
      <p:sp>
        <p:nvSpPr>
          <p:cNvPr id="5" name="Cover description"/>
          <p:cNvSpPr txBox="1"/>
          <p:nvPr/>
        </p:nvSpPr>
        <p:spPr>
          <a:xfrm>
            <a:off x="4160520" y="260604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Báo cáo Lab 03 – Machine Learning: xây dựng quy trình hồi quy hoàn chỉnh từ khám phá dữ liệu, tiền xử lý, tạo đặc trưng, huấn luyện mô hình đến xuất file submission.csv.</a:t>
            </a:r>
            <a:endParaRPr lang="en-US" sz="950" dirty="0"/>
          </a:p>
        </p:txBody>
      </p:sp>
      <p:sp>
        <p:nvSpPr>
          <p:cNvPr id="6" name="Class pill shape"/>
          <p:cNvSpPr/>
          <p:nvPr/>
        </p:nvSpPr>
        <p:spPr>
          <a:xfrm>
            <a:off x="4160520" y="3520440"/>
            <a:ext cx="2743200" cy="384048"/>
          </a:xfrm>
          <a:prstGeom prst="roundRect">
            <a:avLst>
              <a:gd name="adj" fmla="val 47619"/>
            </a:avLst>
          </a:prstGeom>
          <a:solidFill>
            <a:schemeClr val="bg1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7" name="Class pill"/>
          <p:cNvSpPr txBox="1"/>
          <p:nvPr/>
        </p:nvSpPr>
        <p:spPr>
          <a:xfrm>
            <a:off x="4160520" y="35204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Lớp DCT124C3  ·  Lab 03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863840" y="4572000"/>
            <a:ext cx="7315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sometric laptop" descr="Isometric lapto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3383280" cy="2171282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1" type="title" hasCustomPrompt="1"/>
          </p:nvPr>
        </p:nvSpPr>
        <p:spPr>
          <a:xfrm>
            <a:off x="3474720" y="50292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Thành viên nhóm</a:t>
            </a:r>
            <a:endParaRPr lang="en-US" sz="2500" dirty="0"/>
          </a:p>
        </p:txBody>
      </p:sp>
      <p:sp>
        <p:nvSpPr>
          <p:cNvPr id="5" name="Class label shape"/>
          <p:cNvSpPr/>
          <p:nvPr/>
        </p:nvSpPr>
        <p:spPr>
          <a:xfrm>
            <a:off x="6903720" y="1097280"/>
            <a:ext cx="169164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6" name="Class label"/>
          <p:cNvSpPr txBox="1"/>
          <p:nvPr/>
        </p:nvSpPr>
        <p:spPr>
          <a:xfrm>
            <a:off x="6903720" y="109728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Lớp DCT124C3</a:t>
            </a:r>
            <a:endParaRPr lang="en-US" sz="900" dirty="0"/>
          </a:p>
        </p:txBody>
      </p:sp>
      <p:graphicFrame>
        <p:nvGraphicFramePr>
          <p:cNvPr id="3" name="Member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0" y="1554480"/>
          <a:ext cx="438912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2011680"/>
                <a:gridCol w="11430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A5578"/>
                          </a:solidFill>
                        </a:rPr>
                        <a:t>MSSV</a:t>
                      </a:r>
                      <a:endParaRPr lang="en-US" sz="900" dirty="0"/>
                    </a:p>
                  </a:txBody>
                  <a:tcPr marL="91440" marR="9144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A5578"/>
                          </a:solidFill>
                        </a:rPr>
                        <a:t>Họ và tên</a:t>
                      </a:r>
                      <a:endParaRPr lang="en-US" sz="900" dirty="0"/>
                    </a:p>
                  </a:txBody>
                  <a:tcPr marL="91440" marR="9144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A5578"/>
                          </a:solidFill>
                        </a:rPr>
                        <a:t>Vai trò</a:t>
                      </a:r>
                      <a:endParaRPr lang="en-US" sz="900" dirty="0"/>
                    </a:p>
                  </a:txBody>
                  <a:tcPr marL="91440" marR="9144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3124411337</a:t>
                      </a:r>
                      <a:endParaRPr lang="en-US" sz="1000" dirty="0"/>
                    </a:p>
                  </a:txBody>
                  <a:tcPr marL="91440" marR="9144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61F"/>
                          </a:solidFill>
                        </a:rPr>
                        <a:t>Nguyễn Thanh Tuấn</a:t>
                      </a:r>
                      <a:endParaRPr lang="en-US" sz="1100" dirty="0"/>
                    </a:p>
                  </a:txBody>
                  <a:tcPr marL="91440" marR="9144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578"/>
                          </a:solidFill>
                        </a:rPr>
                        <a:t>Thành viên</a:t>
                      </a:r>
                      <a:endParaRPr lang="en-US" sz="950" dirty="0"/>
                    </a:p>
                  </a:txBody>
                  <a:tcPr marL="91440" marR="9144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3124411261</a:t>
                      </a:r>
                      <a:endParaRPr lang="en-US" sz="1000" dirty="0"/>
                    </a:p>
                  </a:txBody>
                  <a:tcPr marL="91440" marR="9144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61F"/>
                          </a:solidFill>
                        </a:rPr>
                        <a:t>Đào Hữu Tài</a:t>
                      </a:r>
                      <a:endParaRPr lang="en-US" sz="1100" dirty="0"/>
                    </a:p>
                  </a:txBody>
                  <a:tcPr marL="91440" marR="9144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578"/>
                          </a:solidFill>
                        </a:rPr>
                        <a:t>Thành viên</a:t>
                      </a:r>
                      <a:endParaRPr lang="en-US" sz="950" dirty="0"/>
                    </a:p>
                  </a:txBody>
                  <a:tcPr marL="91440" marR="9144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3124411038</a:t>
                      </a:r>
                      <a:endParaRPr lang="en-US" sz="1000" dirty="0"/>
                    </a:p>
                  </a:txBody>
                  <a:tcPr marL="91440" marR="9144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161F"/>
                          </a:solidFill>
                        </a:rPr>
                        <a:t>Trần Lê Gia Bảo</a:t>
                      </a:r>
                      <a:endParaRPr lang="en-US" sz="1100" dirty="0"/>
                    </a:p>
                  </a:txBody>
                  <a:tcPr marL="91440" marR="9144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6217F"/>
                          </a:solidFill>
                        </a:rPr>
                        <a:t>Nhóm trưởng</a:t>
                      </a:r>
                      <a:endParaRPr lang="en-US" sz="950" dirty="0"/>
                    </a:p>
                  </a:txBody>
                  <a:tcPr marL="91440" marR="9144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3124411245</a:t>
                      </a:r>
                      <a:endParaRPr lang="en-US" sz="1000" dirty="0"/>
                    </a:p>
                  </a:txBody>
                  <a:tcPr marL="91440" marR="9144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61F"/>
                          </a:solidFill>
                        </a:rPr>
                        <a:t>Huỳnh Nhật Quang</a:t>
                      </a:r>
                      <a:endParaRPr lang="en-US" sz="1100" dirty="0"/>
                    </a:p>
                  </a:txBody>
                  <a:tcPr marL="91440" marR="9144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578"/>
                          </a:solidFill>
                        </a:rPr>
                        <a:t>Thành viên</a:t>
                      </a:r>
                      <a:endParaRPr lang="en-US" sz="950" dirty="0"/>
                    </a:p>
                  </a:txBody>
                  <a:tcPr marL="91440" marR="9144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3124411198</a:t>
                      </a:r>
                      <a:endParaRPr lang="en-US" sz="1000" dirty="0"/>
                    </a:p>
                  </a:txBody>
                  <a:tcPr marL="91440" marR="9144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161F"/>
                          </a:solidFill>
                        </a:rPr>
                        <a:t>Tô Thành Nhân</a:t>
                      </a:r>
                      <a:endParaRPr lang="en-US" sz="1100" dirty="0"/>
                    </a:p>
                  </a:txBody>
                  <a:tcPr marL="91440" marR="9144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578"/>
                          </a:solidFill>
                        </a:rPr>
                        <a:t>Thành viên</a:t>
                      </a:r>
                      <a:endParaRPr lang="en-US" sz="950" dirty="0"/>
                    </a:p>
                  </a:txBody>
                  <a:tcPr marL="91440" marR="91440" marT="0" marB="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863840" y="4572000"/>
            <a:ext cx="7315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371600" y="5029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Nội dung báo cáo</a:t>
            </a:r>
            <a:endParaRPr lang="en-US" sz="2500" dirty="0"/>
          </a:p>
        </p:txBody>
      </p:sp>
      <p:pic>
        <p:nvPicPr>
          <p:cNvPr id="4" name="Isometric server racks" descr="Isometric server rack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0" y="1417320"/>
            <a:ext cx="2423160" cy="2360221"/>
          </a:xfrm>
          <a:prstGeom prst="rect">
            <a:avLst/>
          </a:prstGeom>
        </p:spPr>
      </p:pic>
      <p:sp>
        <p:nvSpPr>
          <p:cNvPr id="5" name="Agenda 01 card"/>
          <p:cNvSpPr/>
          <p:nvPr/>
        </p:nvSpPr>
        <p:spPr>
          <a:xfrm>
            <a:off x="548640" y="1280160"/>
            <a:ext cx="2606040" cy="896112"/>
          </a:xfrm>
          <a:prstGeom prst="roundRect">
            <a:avLst>
              <a:gd name="adj" fmla="val 12245"/>
            </a:avLst>
          </a:prstGeom>
          <a:solidFill>
            <a:schemeClr val="bg1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6" name="Agenda 01 number shape"/>
          <p:cNvSpPr/>
          <p:nvPr/>
        </p:nvSpPr>
        <p:spPr>
          <a:xfrm>
            <a:off x="685800" y="1481328"/>
            <a:ext cx="493776" cy="493776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7" name="Agenda 01 number"/>
          <p:cNvSpPr txBox="1"/>
          <p:nvPr/>
        </p:nvSpPr>
        <p:spPr>
          <a:xfrm>
            <a:off x="685800" y="14813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01</a:t>
            </a:r>
            <a:endParaRPr lang="en-US" sz="1050" dirty="0"/>
          </a:p>
        </p:txBody>
      </p:sp>
      <p:sp>
        <p:nvSpPr>
          <p:cNvPr id="8" name="Agenda 01 title"/>
          <p:cNvSpPr txBox="1"/>
          <p:nvPr/>
        </p:nvSpPr>
        <p:spPr>
          <a:xfrm>
            <a:off x="1325880" y="14630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Giới thiệu bài toán</a:t>
            </a:r>
            <a:endParaRPr lang="en-US" sz="1050" dirty="0"/>
          </a:p>
        </p:txBody>
      </p:sp>
      <p:sp>
        <p:nvSpPr>
          <p:cNvPr id="9" name="Agenda 01 text"/>
          <p:cNvSpPr txBox="1"/>
          <p:nvPr/>
        </p:nvSpPr>
        <p:spPr>
          <a:xfrm>
            <a:off x="1325880" y="1737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Mục tiêu, bộ dữ liệu, quy trình</a:t>
            </a:r>
            <a:endParaRPr lang="en-US" sz="850" dirty="0"/>
          </a:p>
        </p:txBody>
      </p:sp>
      <p:sp>
        <p:nvSpPr>
          <p:cNvPr id="10" name="Agenda 02 card"/>
          <p:cNvSpPr/>
          <p:nvPr/>
        </p:nvSpPr>
        <p:spPr>
          <a:xfrm>
            <a:off x="548640" y="2331720"/>
            <a:ext cx="2606040" cy="896112"/>
          </a:xfrm>
          <a:prstGeom prst="roundRect">
            <a:avLst>
              <a:gd name="adj" fmla="val 12245"/>
            </a:avLst>
          </a:prstGeom>
          <a:solidFill>
            <a:schemeClr val="bg1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11" name="Agenda 02 number shape"/>
          <p:cNvSpPr/>
          <p:nvPr/>
        </p:nvSpPr>
        <p:spPr>
          <a:xfrm>
            <a:off x="685800" y="2532888"/>
            <a:ext cx="493776" cy="493776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12" name="Agenda 02 number"/>
          <p:cNvSpPr txBox="1"/>
          <p:nvPr/>
        </p:nvSpPr>
        <p:spPr>
          <a:xfrm>
            <a:off x="685800" y="253288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02</a:t>
            </a:r>
            <a:endParaRPr lang="en-US" sz="1050" dirty="0"/>
          </a:p>
        </p:txBody>
      </p:sp>
      <p:sp>
        <p:nvSpPr>
          <p:cNvPr id="13" name="Agenda 02 title"/>
          <p:cNvSpPr txBox="1"/>
          <p:nvPr/>
        </p:nvSpPr>
        <p:spPr>
          <a:xfrm>
            <a:off x="1325880" y="2514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Khám phá dữ liệu</a:t>
            </a:r>
            <a:endParaRPr lang="en-US" sz="1050" dirty="0"/>
          </a:p>
        </p:txBody>
      </p:sp>
      <p:sp>
        <p:nvSpPr>
          <p:cNvPr id="14" name="Agenda 02 text"/>
          <p:cNvSpPr txBox="1"/>
          <p:nvPr/>
        </p:nvSpPr>
        <p:spPr>
          <a:xfrm>
            <a:off x="1325880" y="2788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Phân phối giá, tương quan, thiếu, ngoại lệ</a:t>
            </a:r>
            <a:endParaRPr lang="en-US" sz="850" dirty="0"/>
          </a:p>
        </p:txBody>
      </p:sp>
      <p:sp>
        <p:nvSpPr>
          <p:cNvPr id="15" name="Agenda 03 card"/>
          <p:cNvSpPr/>
          <p:nvPr/>
        </p:nvSpPr>
        <p:spPr>
          <a:xfrm>
            <a:off x="548640" y="3383280"/>
            <a:ext cx="2606040" cy="896112"/>
          </a:xfrm>
          <a:prstGeom prst="roundRect">
            <a:avLst>
              <a:gd name="adj" fmla="val 12245"/>
            </a:avLst>
          </a:prstGeom>
          <a:solidFill>
            <a:schemeClr val="bg1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16" name="Agenda 03 number shape"/>
          <p:cNvSpPr/>
          <p:nvPr/>
        </p:nvSpPr>
        <p:spPr>
          <a:xfrm>
            <a:off x="685800" y="3584448"/>
            <a:ext cx="493776" cy="493776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17" name="Agenda 03 number"/>
          <p:cNvSpPr txBox="1"/>
          <p:nvPr/>
        </p:nvSpPr>
        <p:spPr>
          <a:xfrm>
            <a:off x="685800" y="35844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03</a:t>
            </a:r>
            <a:endParaRPr lang="en-US" sz="1050" dirty="0"/>
          </a:p>
        </p:txBody>
      </p:sp>
      <p:sp>
        <p:nvSpPr>
          <p:cNvPr id="18" name="Agenda 03 title"/>
          <p:cNvSpPr txBox="1"/>
          <p:nvPr/>
        </p:nvSpPr>
        <p:spPr>
          <a:xfrm>
            <a:off x="1325880" y="3566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Tiền xử lý &amp; đặc trưng</a:t>
            </a:r>
            <a:endParaRPr lang="en-US" sz="1050" dirty="0"/>
          </a:p>
        </p:txBody>
      </p:sp>
      <p:sp>
        <p:nvSpPr>
          <p:cNvPr id="19" name="Agenda 03 text"/>
          <p:cNvSpPr txBox="1"/>
          <p:nvPr/>
        </p:nvSpPr>
        <p:spPr>
          <a:xfrm>
            <a:off x="1325880" y="3840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Điền thiếu, mã hoá, đặc trưng mới</a:t>
            </a:r>
            <a:endParaRPr lang="en-US" sz="850" dirty="0"/>
          </a:p>
        </p:txBody>
      </p:sp>
      <p:sp>
        <p:nvSpPr>
          <p:cNvPr id="20" name="Agenda 04 card"/>
          <p:cNvSpPr/>
          <p:nvPr/>
        </p:nvSpPr>
        <p:spPr>
          <a:xfrm>
            <a:off x="5989320" y="1280160"/>
            <a:ext cx="2606040" cy="896112"/>
          </a:xfrm>
          <a:prstGeom prst="roundRect">
            <a:avLst>
              <a:gd name="adj" fmla="val 12245"/>
            </a:avLst>
          </a:prstGeom>
          <a:solidFill>
            <a:schemeClr val="bg1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21" name="Agenda 04 number shape"/>
          <p:cNvSpPr/>
          <p:nvPr/>
        </p:nvSpPr>
        <p:spPr>
          <a:xfrm>
            <a:off x="6126480" y="1481328"/>
            <a:ext cx="493776" cy="493776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22" name="Agenda 04 number"/>
          <p:cNvSpPr txBox="1"/>
          <p:nvPr/>
        </p:nvSpPr>
        <p:spPr>
          <a:xfrm>
            <a:off x="6126480" y="14813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04</a:t>
            </a:r>
            <a:endParaRPr lang="en-US" sz="1050" dirty="0"/>
          </a:p>
        </p:txBody>
      </p:sp>
      <p:sp>
        <p:nvSpPr>
          <p:cNvPr id="23" name="Agenda 04 title"/>
          <p:cNvSpPr txBox="1"/>
          <p:nvPr/>
        </p:nvSpPr>
        <p:spPr>
          <a:xfrm>
            <a:off x="6766560" y="14630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Mô hình &amp; huấn luyện</a:t>
            </a:r>
            <a:endParaRPr lang="en-US" sz="1050" dirty="0"/>
          </a:p>
        </p:txBody>
      </p:sp>
      <p:sp>
        <p:nvSpPr>
          <p:cNvPr id="24" name="Agenda 04 text"/>
          <p:cNvSpPr txBox="1"/>
          <p:nvPr/>
        </p:nvSpPr>
        <p:spPr>
          <a:xfrm>
            <a:off x="6766560" y="1737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6 mô hình, 5-fold CV</a:t>
            </a:r>
            <a:endParaRPr lang="en-US" sz="850" dirty="0"/>
          </a:p>
        </p:txBody>
      </p:sp>
      <p:sp>
        <p:nvSpPr>
          <p:cNvPr id="25" name="Agenda 05 card"/>
          <p:cNvSpPr/>
          <p:nvPr/>
        </p:nvSpPr>
        <p:spPr>
          <a:xfrm>
            <a:off x="5989320" y="2331720"/>
            <a:ext cx="2606040" cy="896112"/>
          </a:xfrm>
          <a:prstGeom prst="roundRect">
            <a:avLst>
              <a:gd name="adj" fmla="val 12245"/>
            </a:avLst>
          </a:prstGeom>
          <a:solidFill>
            <a:schemeClr val="bg1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26" name="Agenda 05 number shape"/>
          <p:cNvSpPr/>
          <p:nvPr/>
        </p:nvSpPr>
        <p:spPr>
          <a:xfrm>
            <a:off x="6126480" y="2532888"/>
            <a:ext cx="493776" cy="493776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27" name="Agenda 05 number"/>
          <p:cNvSpPr txBox="1"/>
          <p:nvPr/>
        </p:nvSpPr>
        <p:spPr>
          <a:xfrm>
            <a:off x="6126480" y="253288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05</a:t>
            </a:r>
            <a:endParaRPr lang="en-US" sz="1050" dirty="0"/>
          </a:p>
        </p:txBody>
      </p:sp>
      <p:sp>
        <p:nvSpPr>
          <p:cNvPr id="28" name="Agenda 05 title"/>
          <p:cNvSpPr txBox="1"/>
          <p:nvPr/>
        </p:nvSpPr>
        <p:spPr>
          <a:xfrm>
            <a:off x="6766560" y="2514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Kết quả &amp; đánh giá</a:t>
            </a:r>
            <a:endParaRPr lang="en-US" sz="1050" dirty="0"/>
          </a:p>
        </p:txBody>
      </p:sp>
      <p:sp>
        <p:nvSpPr>
          <p:cNvPr id="29" name="Agenda 05 text"/>
          <p:cNvSpPr txBox="1"/>
          <p:nvPr/>
        </p:nvSpPr>
        <p:spPr>
          <a:xfrm>
            <a:off x="6766560" y="2788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RMSE, R², đặc trưng quan trọng</a:t>
            </a:r>
            <a:endParaRPr lang="en-US" sz="850" dirty="0"/>
          </a:p>
        </p:txBody>
      </p:sp>
      <p:sp>
        <p:nvSpPr>
          <p:cNvPr id="30" name="Agenda 06 card"/>
          <p:cNvSpPr/>
          <p:nvPr/>
        </p:nvSpPr>
        <p:spPr>
          <a:xfrm>
            <a:off x="5989320" y="3383280"/>
            <a:ext cx="2606040" cy="896112"/>
          </a:xfrm>
          <a:prstGeom prst="roundRect">
            <a:avLst>
              <a:gd name="adj" fmla="val 12245"/>
            </a:avLst>
          </a:prstGeom>
          <a:solidFill>
            <a:schemeClr val="bg1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31" name="Agenda 06 number shape"/>
          <p:cNvSpPr/>
          <p:nvPr/>
        </p:nvSpPr>
        <p:spPr>
          <a:xfrm>
            <a:off x="6126480" y="3584448"/>
            <a:ext cx="493776" cy="493776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32" name="Agenda 06 number"/>
          <p:cNvSpPr txBox="1"/>
          <p:nvPr/>
        </p:nvSpPr>
        <p:spPr>
          <a:xfrm>
            <a:off x="6126480" y="35844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06</a:t>
            </a:r>
            <a:endParaRPr lang="en-US" sz="1050" dirty="0"/>
          </a:p>
        </p:txBody>
      </p:sp>
      <p:sp>
        <p:nvSpPr>
          <p:cNvPr id="33" name="Agenda 06 title"/>
          <p:cNvSpPr txBox="1"/>
          <p:nvPr/>
        </p:nvSpPr>
        <p:spPr>
          <a:xfrm>
            <a:off x="6766560" y="3566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Kết luận</a:t>
            </a:r>
            <a:endParaRPr lang="en-US" sz="1050" dirty="0"/>
          </a:p>
        </p:txBody>
      </p:sp>
      <p:sp>
        <p:nvSpPr>
          <p:cNvPr id="34" name="Agenda 06 text"/>
          <p:cNvSpPr txBox="1"/>
          <p:nvPr/>
        </p:nvSpPr>
        <p:spPr>
          <a:xfrm>
            <a:off x="6766560" y="3840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Hạn chế và hướng phát triển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863840" y="4572000"/>
            <a:ext cx="7315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94360" y="50292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Giới thiệu</a:t>
            </a:r>
            <a:endParaRPr lang="en-US" sz="2500" dirty="0"/>
          </a:p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bài toán</a:t>
            </a:r>
            <a:endParaRPr lang="en-US" sz="2500" dirty="0"/>
          </a:p>
        </p:txBody>
      </p:sp>
      <p:sp>
        <p:nvSpPr>
          <p:cNvPr id="4" name="Problem paragraph"/>
          <p:cNvSpPr txBox="1"/>
          <p:nvPr/>
        </p:nvSpPr>
        <p:spPr>
          <a:xfrm>
            <a:off x="594360" y="15544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Dự đoán giá bán (SalePrice) của các căn nhà ở Ames, Iowa dựa trên 79 đặc trưng mô tả ngôi nhà. Đây là bài toán hồi quy có giám sát, đánh giá bằng RMSE trên log(SalePrice) và hệ số R².</a:t>
            </a:r>
            <a:endParaRPr lang="en-US" sz="1000" dirty="0"/>
          </a:p>
        </p:txBody>
      </p:sp>
      <p:sp>
        <p:nvSpPr>
          <p:cNvPr id="5" name="Problem circle 1 shape"/>
          <p:cNvSpPr/>
          <p:nvPr/>
        </p:nvSpPr>
        <p:spPr>
          <a:xfrm>
            <a:off x="685800" y="2743200"/>
            <a:ext cx="1097280" cy="1097280"/>
          </a:xfrm>
          <a:prstGeom prst="ellipse">
            <a:avLst/>
          </a:prstGeom>
          <a:solidFill>
            <a:srgbClr val="EEF2FA"/>
          </a:solidFill>
          <a:ln/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6" name="Problem circle 1"/>
          <p:cNvSpPr txBox="1"/>
          <p:nvPr/>
        </p:nvSpPr>
        <p:spPr>
          <a:xfrm>
            <a:off x="685800" y="2743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Dự đoán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giá nhà</a:t>
            </a:r>
            <a:endParaRPr lang="en-US" sz="950" dirty="0"/>
          </a:p>
        </p:txBody>
      </p:sp>
      <p:sp>
        <p:nvSpPr>
          <p:cNvPr id="7" name="Problem circle 2 shape"/>
          <p:cNvSpPr/>
          <p:nvPr/>
        </p:nvSpPr>
        <p:spPr>
          <a:xfrm>
            <a:off x="2011680" y="2743200"/>
            <a:ext cx="1097280" cy="1097280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8" name="Problem circle 2"/>
          <p:cNvSpPr txBox="1"/>
          <p:nvPr/>
        </p:nvSpPr>
        <p:spPr>
          <a:xfrm>
            <a:off x="2011680" y="2743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Hồi quy</a:t>
            </a:r>
            <a:endParaRPr lang="en-US" sz="1100" dirty="0"/>
          </a:p>
        </p:txBody>
      </p:sp>
      <p:sp>
        <p:nvSpPr>
          <p:cNvPr id="9" name="Problem circle 3 shape"/>
          <p:cNvSpPr/>
          <p:nvPr/>
        </p:nvSpPr>
        <p:spPr>
          <a:xfrm>
            <a:off x="3337560" y="2743200"/>
            <a:ext cx="1097280" cy="1097280"/>
          </a:xfrm>
          <a:prstGeom prst="ellipse">
            <a:avLst/>
          </a:prstGeom>
          <a:solidFill>
            <a:srgbClr val="EEF2FA"/>
          </a:solidFill>
          <a:ln/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10" name="Problem circle 3"/>
          <p:cNvSpPr txBox="1"/>
          <p:nvPr/>
        </p:nvSpPr>
        <p:spPr>
          <a:xfrm>
            <a:off x="3337560" y="2743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RMSE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R²</a:t>
            </a:r>
            <a:endParaRPr lang="en-US" sz="1050" dirty="0"/>
          </a:p>
        </p:txBody>
      </p:sp>
      <p:sp>
        <p:nvSpPr>
          <p:cNvPr id="11" name="Circle caption"/>
          <p:cNvSpPr txBox="1"/>
          <p:nvPr/>
        </p:nvSpPr>
        <p:spPr>
          <a:xfrm>
            <a:off x="594360" y="402336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accent6"/>
                </a:solidFill>
              </a:rPr>
              <a:t>Mục tiêu · Loại bài toán · Thước đo</a:t>
            </a:r>
            <a:endParaRPr lang="en-US" sz="850" dirty="0"/>
          </a:p>
        </p:txBody>
      </p:sp>
      <p:pic>
        <p:nvPicPr>
          <p:cNvPr id="12" name="Isometric cloud and servers" descr="Isometric cloud and serv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640080"/>
            <a:ext cx="2235200" cy="3749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863840" y="4572000"/>
            <a:ext cx="7315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sometric database cylinders" descr="Isometric database cylind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3383280" cy="2337660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1" type="title" hasCustomPrompt="1"/>
          </p:nvPr>
        </p:nvSpPr>
        <p:spPr>
          <a:xfrm>
            <a:off x="3474720" y="50292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Bộ dữ liệu</a:t>
            </a:r>
            <a:endParaRPr lang="en-US" sz="2500" dirty="0"/>
          </a:p>
          <a:p>
            <a:pPr algn="r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Ames Housing</a:t>
            </a:r>
            <a:endParaRPr lang="en-US" sz="2500" dirty="0"/>
          </a:p>
        </p:txBody>
      </p:sp>
      <p:sp>
        <p:nvSpPr>
          <p:cNvPr id="5" name="Dataset paragraph"/>
          <p:cNvSpPr txBox="1"/>
          <p:nvPr/>
        </p:nvSpPr>
        <p:spPr>
          <a:xfrm>
            <a:off x="4206240" y="146304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Gồm train.csv, test.csv, sample_submission.csv và data_description.txt mô tả ý nghĩa từng cột. Nhiều ô trống thật ra có nghĩa là “không có” (không có hồ bơi, tầng hầm, garage…).</a:t>
            </a:r>
            <a:endParaRPr lang="en-US" sz="1000" dirty="0"/>
          </a:p>
        </p:txBody>
      </p:sp>
      <p:sp>
        <p:nvSpPr>
          <p:cNvPr id="6" name="Dataset tile 1"/>
          <p:cNvSpPr/>
          <p:nvPr/>
        </p:nvSpPr>
        <p:spPr>
          <a:xfrm>
            <a:off x="4160520" y="2514600"/>
            <a:ext cx="1005840" cy="12344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7" name="Dataset tile 1 value"/>
          <p:cNvSpPr txBox="1"/>
          <p:nvPr/>
        </p:nvSpPr>
        <p:spPr>
          <a:xfrm>
            <a:off x="4160520" y="2697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1460</a:t>
            </a:r>
            <a:endParaRPr lang="en-US" sz="2000" dirty="0"/>
          </a:p>
        </p:txBody>
      </p:sp>
      <p:sp>
        <p:nvSpPr>
          <p:cNvPr id="8" name="Dataset tile 1 label"/>
          <p:cNvSpPr txBox="1"/>
          <p:nvPr/>
        </p:nvSpPr>
        <p:spPr>
          <a:xfrm>
            <a:off x="4160520" y="32461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nhà train</a:t>
            </a:r>
            <a:endParaRPr lang="en-US" sz="850" dirty="0"/>
          </a:p>
        </p:txBody>
      </p:sp>
      <p:sp>
        <p:nvSpPr>
          <p:cNvPr id="9" name="Dataset tile 2"/>
          <p:cNvSpPr/>
          <p:nvPr/>
        </p:nvSpPr>
        <p:spPr>
          <a:xfrm>
            <a:off x="5276088" y="2514600"/>
            <a:ext cx="1005840" cy="12344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10" name="Dataset tile 2 value"/>
          <p:cNvSpPr txBox="1"/>
          <p:nvPr/>
        </p:nvSpPr>
        <p:spPr>
          <a:xfrm>
            <a:off x="5276088" y="2697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1459</a:t>
            </a:r>
            <a:endParaRPr lang="en-US" sz="2000" dirty="0"/>
          </a:p>
        </p:txBody>
      </p:sp>
      <p:sp>
        <p:nvSpPr>
          <p:cNvPr id="11" name="Dataset tile 2 label"/>
          <p:cNvSpPr txBox="1"/>
          <p:nvPr/>
        </p:nvSpPr>
        <p:spPr>
          <a:xfrm>
            <a:off x="5276088" y="32461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nhà test</a:t>
            </a:r>
            <a:endParaRPr lang="en-US" sz="850" dirty="0"/>
          </a:p>
        </p:txBody>
      </p:sp>
      <p:sp>
        <p:nvSpPr>
          <p:cNvPr id="12" name="Dataset tile 3"/>
          <p:cNvSpPr/>
          <p:nvPr/>
        </p:nvSpPr>
        <p:spPr>
          <a:xfrm>
            <a:off x="6391656" y="2514600"/>
            <a:ext cx="1005840" cy="1234440"/>
          </a:xfrm>
          <a:prstGeom prst="roundRect">
            <a:avLst>
              <a:gd name="adj" fmla="val 10909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13" name="Dataset tile 3 value"/>
          <p:cNvSpPr txBox="1"/>
          <p:nvPr/>
        </p:nvSpPr>
        <p:spPr>
          <a:xfrm>
            <a:off x="6391656" y="2697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79</a:t>
            </a:r>
            <a:endParaRPr lang="en-US" sz="2000" dirty="0"/>
          </a:p>
        </p:txBody>
      </p:sp>
      <p:sp>
        <p:nvSpPr>
          <p:cNvPr id="14" name="Dataset tile 3 label"/>
          <p:cNvSpPr txBox="1"/>
          <p:nvPr/>
        </p:nvSpPr>
        <p:spPr>
          <a:xfrm>
            <a:off x="6391656" y="32461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bg1"/>
                </a:solidFill>
              </a:rPr>
              <a:t>đặc trưng</a:t>
            </a:r>
            <a:endParaRPr lang="en-US" sz="850" dirty="0"/>
          </a:p>
        </p:txBody>
      </p:sp>
      <p:sp>
        <p:nvSpPr>
          <p:cNvPr id="15" name="Dataset tile 4"/>
          <p:cNvSpPr/>
          <p:nvPr/>
        </p:nvSpPr>
        <p:spPr>
          <a:xfrm>
            <a:off x="7507224" y="2514600"/>
            <a:ext cx="1005840" cy="12344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16" name="Dataset tile 4 value"/>
          <p:cNvSpPr txBox="1"/>
          <p:nvPr/>
        </p:nvSpPr>
        <p:spPr>
          <a:xfrm>
            <a:off x="7507224" y="2697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19</a:t>
            </a:r>
            <a:endParaRPr lang="en-US" sz="2000" dirty="0"/>
          </a:p>
        </p:txBody>
      </p:sp>
      <p:sp>
        <p:nvSpPr>
          <p:cNvPr id="17" name="Dataset tile 4 label"/>
          <p:cNvSpPr txBox="1"/>
          <p:nvPr/>
        </p:nvSpPr>
        <p:spPr>
          <a:xfrm>
            <a:off x="7507224" y="32461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cột thiếu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863840" y="4572000"/>
            <a:ext cx="7315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94360" y="50292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Quy trình</a:t>
            </a:r>
            <a:endParaRPr lang="en-US" sz="2500" dirty="0"/>
          </a:p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thực hiện</a:t>
            </a:r>
            <a:endParaRPr lang="en-US" sz="2500" dirty="0"/>
          </a:p>
        </p:txBody>
      </p:sp>
      <p:pic>
        <p:nvPicPr>
          <p:cNvPr id="4" name="Isometric network" descr="Isometric netwo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502920"/>
            <a:ext cx="3017520" cy="1787993"/>
          </a:xfrm>
          <a:prstGeom prst="rect">
            <a:avLst/>
          </a:prstGeom>
        </p:spPr>
      </p:pic>
      <p:sp>
        <p:nvSpPr>
          <p:cNvPr id="5" name="Step 1 chevron"/>
          <p:cNvSpPr/>
          <p:nvPr/>
        </p:nvSpPr>
        <p:spPr>
          <a:xfrm>
            <a:off x="548640" y="2423160"/>
            <a:ext cx="1627632" cy="457200"/>
          </a:xfrm>
          <a:prstGeom prst="chevron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tep 1 label"/>
          <p:cNvSpPr txBox="1"/>
          <p:nvPr/>
        </p:nvSpPr>
        <p:spPr>
          <a:xfrm>
            <a:off x="822960" y="24231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1. EDA</a:t>
            </a:r>
            <a:endParaRPr lang="en-US" sz="900" dirty="0"/>
          </a:p>
        </p:txBody>
      </p:sp>
      <p:sp>
        <p:nvSpPr>
          <p:cNvPr id="7" name="Step 1 card"/>
          <p:cNvSpPr/>
          <p:nvPr/>
        </p:nvSpPr>
        <p:spPr>
          <a:xfrm>
            <a:off x="594360" y="3108960"/>
            <a:ext cx="1417320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8" name="Step 1 text"/>
          <p:cNvSpPr txBox="1"/>
          <p:nvPr/>
        </p:nvSpPr>
        <p:spPr>
          <a:xfrm>
            <a:off x="704088" y="3246120"/>
            <a:ext cx="11978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Phân phối giá, tương quan, giá trị thiếu, ngoại lệ</a:t>
            </a:r>
            <a:endParaRPr lang="en-US" sz="950" dirty="0"/>
          </a:p>
        </p:txBody>
      </p:sp>
      <p:sp>
        <p:nvSpPr>
          <p:cNvPr id="9" name="Step 2 chevron"/>
          <p:cNvSpPr/>
          <p:nvPr/>
        </p:nvSpPr>
        <p:spPr>
          <a:xfrm>
            <a:off x="2139696" y="2423160"/>
            <a:ext cx="1627632" cy="457200"/>
          </a:xfrm>
          <a:prstGeom prst="chevron">
            <a:avLst/>
          </a:prstGeom>
          <a:solidFill>
            <a:srgbClr val="4B5CC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Step 2 label"/>
          <p:cNvSpPr txBox="1"/>
          <p:nvPr/>
        </p:nvSpPr>
        <p:spPr>
          <a:xfrm>
            <a:off x="2414016" y="24231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2. Tiền xử lý</a:t>
            </a:r>
            <a:endParaRPr lang="en-US" sz="900" dirty="0"/>
          </a:p>
        </p:txBody>
      </p:sp>
      <p:sp>
        <p:nvSpPr>
          <p:cNvPr id="11" name="Step 2 card"/>
          <p:cNvSpPr/>
          <p:nvPr/>
        </p:nvSpPr>
        <p:spPr>
          <a:xfrm>
            <a:off x="2185416" y="3108960"/>
            <a:ext cx="1417320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12" name="Step 2 text"/>
          <p:cNvSpPr txBox="1"/>
          <p:nvPr/>
        </p:nvSpPr>
        <p:spPr>
          <a:xfrm>
            <a:off x="2295144" y="3246120"/>
            <a:ext cx="11978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Điền thiếu, loại ngoại lệ, log1p, mã hoá</a:t>
            </a:r>
            <a:endParaRPr lang="en-US" sz="950" dirty="0"/>
          </a:p>
        </p:txBody>
      </p:sp>
      <p:sp>
        <p:nvSpPr>
          <p:cNvPr id="13" name="Step 3 chevron"/>
          <p:cNvSpPr/>
          <p:nvPr/>
        </p:nvSpPr>
        <p:spPr>
          <a:xfrm>
            <a:off x="3730752" y="2423160"/>
            <a:ext cx="1627632" cy="457200"/>
          </a:xfrm>
          <a:prstGeom prst="chevron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tep 3 label"/>
          <p:cNvSpPr txBox="1"/>
          <p:nvPr/>
        </p:nvSpPr>
        <p:spPr>
          <a:xfrm>
            <a:off x="4005072" y="24231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3. Đặc trưng</a:t>
            </a:r>
            <a:endParaRPr lang="en-US" sz="900" dirty="0"/>
          </a:p>
        </p:txBody>
      </p:sp>
      <p:sp>
        <p:nvSpPr>
          <p:cNvPr id="15" name="Step 3 card"/>
          <p:cNvSpPr/>
          <p:nvPr/>
        </p:nvSpPr>
        <p:spPr>
          <a:xfrm>
            <a:off x="3776472" y="3108960"/>
            <a:ext cx="1417320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16" name="Step 3 text"/>
          <p:cNvSpPr txBox="1"/>
          <p:nvPr/>
        </p:nvSpPr>
        <p:spPr>
          <a:xfrm>
            <a:off x="3886200" y="3246120"/>
            <a:ext cx="11978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TotalSF, HouseAge, TotalBath và các cờ Has*</a:t>
            </a:r>
            <a:endParaRPr lang="en-US" sz="950" dirty="0"/>
          </a:p>
        </p:txBody>
      </p:sp>
      <p:sp>
        <p:nvSpPr>
          <p:cNvPr id="17" name="Step 4 chevron"/>
          <p:cNvSpPr/>
          <p:nvPr/>
        </p:nvSpPr>
        <p:spPr>
          <a:xfrm>
            <a:off x="5321808" y="2423160"/>
            <a:ext cx="1627632" cy="457200"/>
          </a:xfrm>
          <a:prstGeom prst="chevron">
            <a:avLst/>
          </a:prstGeom>
          <a:solidFill>
            <a:srgbClr val="4B5CC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Step 4 label"/>
          <p:cNvSpPr txBox="1"/>
          <p:nvPr/>
        </p:nvSpPr>
        <p:spPr>
          <a:xfrm>
            <a:off x="5596128" y="24231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4. Huấn luyện</a:t>
            </a:r>
            <a:endParaRPr lang="en-US" sz="900" dirty="0"/>
          </a:p>
        </p:txBody>
      </p:sp>
      <p:sp>
        <p:nvSpPr>
          <p:cNvPr id="19" name="Step 4 card"/>
          <p:cNvSpPr/>
          <p:nvPr/>
        </p:nvSpPr>
        <p:spPr>
          <a:xfrm>
            <a:off x="5367528" y="3108960"/>
            <a:ext cx="1417320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20" name="Step 4 text"/>
          <p:cNvSpPr txBox="1"/>
          <p:nvPr/>
        </p:nvSpPr>
        <p:spPr>
          <a:xfrm>
            <a:off x="5477256" y="3246120"/>
            <a:ext cx="11978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6 mô hình + blend, 5-fold CV</a:t>
            </a:r>
            <a:endParaRPr lang="en-US" sz="950" dirty="0"/>
          </a:p>
        </p:txBody>
      </p:sp>
      <p:sp>
        <p:nvSpPr>
          <p:cNvPr id="21" name="Step 5 chevron"/>
          <p:cNvSpPr/>
          <p:nvPr/>
        </p:nvSpPr>
        <p:spPr>
          <a:xfrm>
            <a:off x="6912864" y="2423160"/>
            <a:ext cx="1627632" cy="457200"/>
          </a:xfrm>
          <a:prstGeom prst="chevron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Step 5 label"/>
          <p:cNvSpPr txBox="1"/>
          <p:nvPr/>
        </p:nvSpPr>
        <p:spPr>
          <a:xfrm>
            <a:off x="7187184" y="24231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5. Xuất kết quả</a:t>
            </a:r>
            <a:endParaRPr lang="en-US" sz="900" dirty="0"/>
          </a:p>
        </p:txBody>
      </p:sp>
      <p:sp>
        <p:nvSpPr>
          <p:cNvPr id="23" name="Step 5 card"/>
          <p:cNvSpPr/>
          <p:nvPr/>
        </p:nvSpPr>
        <p:spPr>
          <a:xfrm>
            <a:off x="6958584" y="3108960"/>
            <a:ext cx="1417320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24" name="Step 5 text"/>
          <p:cNvSpPr txBox="1"/>
          <p:nvPr/>
        </p:nvSpPr>
        <p:spPr>
          <a:xfrm>
            <a:off x="7068312" y="3246120"/>
            <a:ext cx="11978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submission.csv, biểu đồ, bảng CSV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863840" y="4572000"/>
            <a:ext cx="7315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94360" y="50292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Phân phối</a:t>
            </a:r>
            <a:endParaRPr lang="en-US" sz="2500" dirty="0"/>
          </a:p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SalePrice</a:t>
            </a:r>
            <a:endParaRPr lang="en-US" sz="2500" dirty="0"/>
          </a:p>
        </p:txBody>
      </p:sp>
      <p:sp>
        <p:nvSpPr>
          <p:cNvPr id="4" name="Skew paragraph"/>
          <p:cNvSpPr txBox="1"/>
          <p:nvPr/>
        </p:nvSpPr>
        <p:spPr>
          <a:xfrm>
            <a:off x="594360" y="14630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Giá trung bình $180,921 cao hơn trung vị $163,000: vài căn đắt kéo đuôi phân phối sang phải. Biến đổi log1p giúp mô hình tuyến tính hoạt động tốt hơn.</a:t>
            </a:r>
            <a:endParaRPr lang="en-US" sz="950" dirty="0"/>
          </a:p>
        </p:txBody>
      </p:sp>
      <p:sp>
        <p:nvSpPr>
          <p:cNvPr id="5" name="Skew chart card"/>
          <p:cNvSpPr/>
          <p:nvPr/>
        </p:nvSpPr>
        <p:spPr>
          <a:xfrm>
            <a:off x="548640" y="2468880"/>
            <a:ext cx="310896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6" name="Skew chart heading"/>
          <p:cNvSpPr txBox="1"/>
          <p:nvPr/>
        </p:nvSpPr>
        <p:spPr>
          <a:xfrm>
            <a:off x="731520" y="25786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Độ lệch (skew)</a:t>
            </a:r>
            <a:endParaRPr lang="en-US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40080" y="2788920"/>
          <a:ext cx="292608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kew before card"/>
          <p:cNvSpPr/>
          <p:nvPr/>
        </p:nvSpPr>
        <p:spPr>
          <a:xfrm>
            <a:off x="4023360" y="1188720"/>
            <a:ext cx="2194560" cy="32918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9" name="Skew before value"/>
          <p:cNvSpPr txBox="1"/>
          <p:nvPr/>
        </p:nvSpPr>
        <p:spPr>
          <a:xfrm>
            <a:off x="4206240" y="1325880"/>
            <a:ext cx="18288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1.88</a:t>
            </a:r>
            <a:endParaRPr lang="en-US" sz="4400" dirty="0"/>
          </a:p>
        </p:txBody>
      </p:sp>
      <p:sp>
        <p:nvSpPr>
          <p:cNvPr id="10" name="Skew before label"/>
          <p:cNvSpPr txBox="1"/>
          <p:nvPr/>
        </p:nvSpPr>
        <p:spPr>
          <a:xfrm>
            <a:off x="4206240" y="2171700"/>
            <a:ext cx="1828800" cy="2217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Skew của SalePrice gốc. Đuôi phải dài, phân phối méo nên sai số lớn ở các căn đắt.</a:t>
            </a:r>
            <a:endParaRPr lang="en-US" sz="1050" dirty="0"/>
          </a:p>
        </p:txBody>
      </p:sp>
      <p:sp>
        <p:nvSpPr>
          <p:cNvPr id="11" name="Skew after card"/>
          <p:cNvSpPr/>
          <p:nvPr/>
        </p:nvSpPr>
        <p:spPr>
          <a:xfrm>
            <a:off x="6400800" y="1188720"/>
            <a:ext cx="2194560" cy="3291840"/>
          </a:xfrm>
          <a:prstGeom prst="roundRect">
            <a:avLst>
              <a:gd name="adj" fmla="val 50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12" name="Skew after value"/>
          <p:cNvSpPr txBox="1"/>
          <p:nvPr/>
        </p:nvSpPr>
        <p:spPr>
          <a:xfrm>
            <a:off x="6583680" y="1325880"/>
            <a:ext cx="18288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0.12</a:t>
            </a:r>
            <a:endParaRPr lang="en-US" sz="4400" dirty="0"/>
          </a:p>
        </p:txBody>
      </p:sp>
      <p:sp>
        <p:nvSpPr>
          <p:cNvPr id="13" name="Skew after label"/>
          <p:cNvSpPr txBox="1"/>
          <p:nvPr/>
        </p:nvSpPr>
        <p:spPr>
          <a:xfrm>
            <a:off x="6583680" y="2171700"/>
            <a:ext cx="1828800" cy="2217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Skew sau log1p. Gần phân phối chuẩn, mô hình học ổn định hơn. Mọi dự đoán cuối được đổi lại bằng expm1.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863840" y="4572000"/>
            <a:ext cx="7315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94360" y="50292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Tương quan với</a:t>
            </a:r>
            <a:endParaRPr lang="en-US" sz="2500" dirty="0"/>
          </a:p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SalePrice</a:t>
            </a:r>
            <a:endParaRPr lang="en-US" sz="2500" dirty="0"/>
          </a:p>
        </p:txBody>
      </p:sp>
      <p:sp>
        <p:nvSpPr>
          <p:cNvPr id="4" name="Corr chart card"/>
          <p:cNvSpPr/>
          <p:nvPr/>
        </p:nvSpPr>
        <p:spPr>
          <a:xfrm>
            <a:off x="548640" y="1417320"/>
            <a:ext cx="4846320" cy="3063240"/>
          </a:xfrm>
          <a:prstGeom prst="roundRect">
            <a:avLst>
              <a:gd name="adj" fmla="val 3582"/>
            </a:avLst>
          </a:prstGeom>
          <a:solidFill>
            <a:schemeClr val="bg1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5" name="Corr chart heading"/>
          <p:cNvSpPr txBox="1"/>
          <p:nvPr/>
        </p:nvSpPr>
        <p:spPr>
          <a:xfrm>
            <a:off x="731520" y="155448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Top 7 biến số tương quan cao nhất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1783080"/>
          <a:ext cx="466344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Corr item 1 card"/>
          <p:cNvSpPr/>
          <p:nvPr/>
        </p:nvSpPr>
        <p:spPr>
          <a:xfrm>
            <a:off x="5669280" y="1417320"/>
            <a:ext cx="2926080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8" name="Corr item 1 value"/>
          <p:cNvSpPr txBox="1"/>
          <p:nvPr/>
        </p:nvSpPr>
        <p:spPr>
          <a:xfrm>
            <a:off x="5833872" y="141732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0.79</a:t>
            </a:r>
            <a:endParaRPr lang="en-US" sz="2000" dirty="0"/>
          </a:p>
        </p:txBody>
      </p:sp>
      <p:sp>
        <p:nvSpPr>
          <p:cNvPr id="9" name="Corr item 1 head"/>
          <p:cNvSpPr txBox="1"/>
          <p:nvPr/>
        </p:nvSpPr>
        <p:spPr>
          <a:xfrm>
            <a:off x="6720840" y="16002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OverallQual</a:t>
            </a:r>
            <a:endParaRPr lang="en-US" sz="1000" dirty="0"/>
          </a:p>
        </p:txBody>
      </p:sp>
      <p:sp>
        <p:nvSpPr>
          <p:cNvPr id="10" name="Corr item 1 text"/>
          <p:cNvSpPr txBox="1"/>
          <p:nvPr/>
        </p:nvSpPr>
        <p:spPr>
          <a:xfrm>
            <a:off x="6720840" y="185623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bg1"/>
                </a:solidFill>
              </a:rPr>
              <a:t>Chất lượng vật liệu và hoàn thiện</a:t>
            </a:r>
            <a:endParaRPr lang="en-US" sz="850" dirty="0"/>
          </a:p>
        </p:txBody>
      </p:sp>
      <p:sp>
        <p:nvSpPr>
          <p:cNvPr id="11" name="Corr item 2 card"/>
          <p:cNvSpPr/>
          <p:nvPr/>
        </p:nvSpPr>
        <p:spPr>
          <a:xfrm>
            <a:off x="5669280" y="2468880"/>
            <a:ext cx="292608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12" name="Corr item 2 value"/>
          <p:cNvSpPr txBox="1"/>
          <p:nvPr/>
        </p:nvSpPr>
        <p:spPr>
          <a:xfrm>
            <a:off x="5833872" y="246888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0.71</a:t>
            </a:r>
            <a:endParaRPr lang="en-US" sz="2000" dirty="0"/>
          </a:p>
        </p:txBody>
      </p:sp>
      <p:sp>
        <p:nvSpPr>
          <p:cNvPr id="13" name="Corr item 2 head"/>
          <p:cNvSpPr txBox="1"/>
          <p:nvPr/>
        </p:nvSpPr>
        <p:spPr>
          <a:xfrm>
            <a:off x="6720840" y="265176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GrLivArea</a:t>
            </a:r>
            <a:endParaRPr lang="en-US" sz="1000" dirty="0"/>
          </a:p>
        </p:txBody>
      </p:sp>
      <p:sp>
        <p:nvSpPr>
          <p:cNvPr id="14" name="Corr item 2 text"/>
          <p:cNvSpPr txBox="1"/>
          <p:nvPr/>
        </p:nvSpPr>
        <p:spPr>
          <a:xfrm>
            <a:off x="6720840" y="290779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Diện tích sinh hoạt trên mặt đất</a:t>
            </a:r>
            <a:endParaRPr lang="en-US" sz="850" dirty="0"/>
          </a:p>
        </p:txBody>
      </p:sp>
      <p:sp>
        <p:nvSpPr>
          <p:cNvPr id="15" name="Corr item 3 card"/>
          <p:cNvSpPr/>
          <p:nvPr/>
        </p:nvSpPr>
        <p:spPr>
          <a:xfrm>
            <a:off x="5669280" y="3520440"/>
            <a:ext cx="292608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16" name="Corr item 3 value"/>
          <p:cNvSpPr txBox="1"/>
          <p:nvPr/>
        </p:nvSpPr>
        <p:spPr>
          <a:xfrm>
            <a:off x="5833872" y="352044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0.64</a:t>
            </a:r>
            <a:endParaRPr lang="en-US" sz="2000" dirty="0"/>
          </a:p>
        </p:txBody>
      </p:sp>
      <p:sp>
        <p:nvSpPr>
          <p:cNvPr id="17" name="Corr item 3 head"/>
          <p:cNvSpPr txBox="1"/>
          <p:nvPr/>
        </p:nvSpPr>
        <p:spPr>
          <a:xfrm>
            <a:off x="6720840" y="370332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GarageCars</a:t>
            </a:r>
            <a:endParaRPr lang="en-US" sz="1000" dirty="0"/>
          </a:p>
        </p:txBody>
      </p:sp>
      <p:sp>
        <p:nvSpPr>
          <p:cNvPr id="18" name="Corr item 3 text"/>
          <p:cNvSpPr txBox="1"/>
          <p:nvPr/>
        </p:nvSpPr>
        <p:spPr>
          <a:xfrm>
            <a:off x="6720840" y="395935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Sức chứa garage (số xe)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863840" y="4572000"/>
            <a:ext cx="7315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3474720" y="50292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Giá trị thiếu</a:t>
            </a:r>
            <a:endParaRPr lang="en-US" sz="2500" dirty="0"/>
          </a:p>
          <a:p>
            <a:pPr algn="r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trong dữ liệu</a:t>
            </a:r>
            <a:endParaRPr lang="en-US" sz="2500" dirty="0"/>
          </a:p>
        </p:txBody>
      </p:sp>
      <p:sp>
        <p:nvSpPr>
          <p:cNvPr id="4" name="Missing note 1 card"/>
          <p:cNvSpPr/>
          <p:nvPr/>
        </p:nvSpPr>
        <p:spPr>
          <a:xfrm>
            <a:off x="548640" y="1417320"/>
            <a:ext cx="3017520" cy="1143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5" name="Missing note 1 heading"/>
          <p:cNvSpPr txBox="1"/>
          <p:nvPr/>
        </p:nvSpPr>
        <p:spPr>
          <a:xfrm>
            <a:off x="713232" y="1545336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19 cột có giá trị thiếu</a:t>
            </a:r>
            <a:endParaRPr lang="en-US" sz="1150" dirty="0"/>
          </a:p>
        </p:txBody>
      </p:sp>
      <p:sp>
        <p:nvSpPr>
          <p:cNvPr id="6" name="Missing note 1 body"/>
          <p:cNvSpPr txBox="1"/>
          <p:nvPr/>
        </p:nvSpPr>
        <p:spPr>
          <a:xfrm>
            <a:off x="713232" y="1822831"/>
            <a:ext cx="26883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tx2"/>
                </a:solidFill>
              </a:rPr>
              <a:t>Nhiều cột thiếu vì căn nhà không có hạng mục đó, không phải do thiếu dữ liệu thật.</a:t>
            </a:r>
            <a:endParaRPr lang="en-US" sz="1000" dirty="0"/>
          </a:p>
        </p:txBody>
      </p:sp>
      <p:sp>
        <p:nvSpPr>
          <p:cNvPr id="7" name="Missing note 2 card"/>
          <p:cNvSpPr/>
          <p:nvPr/>
        </p:nvSpPr>
        <p:spPr>
          <a:xfrm>
            <a:off x="548640" y="2697480"/>
            <a:ext cx="3017520" cy="1783080"/>
          </a:xfrm>
          <a:prstGeom prst="roundRect">
            <a:avLst>
              <a:gd name="adj" fmla="val 6154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8" name="Missing note 2 heading"/>
          <p:cNvSpPr txBox="1"/>
          <p:nvPr/>
        </p:nvSpPr>
        <p:spPr>
          <a:xfrm>
            <a:off x="713232" y="2825496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Cần xử lý theo ý nghĩa</a:t>
            </a:r>
            <a:endParaRPr lang="en-US" sz="1150" dirty="0"/>
          </a:p>
        </p:txBody>
      </p:sp>
      <p:sp>
        <p:nvSpPr>
          <p:cNvPr id="9" name="Missing note 2 body"/>
          <p:cNvSpPr txBox="1"/>
          <p:nvPr/>
        </p:nvSpPr>
        <p:spPr>
          <a:xfrm>
            <a:off x="713232" y="3102991"/>
            <a:ext cx="26883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bg1"/>
                </a:solidFill>
              </a:rPr>
              <a:t>PoolQC thiếu 99.5%: gần như nhà nào cũng không có hồ bơi.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chemeClr val="bg1"/>
                </a:solidFill>
              </a:rPr>
              <a:t>LotFrontage thiếu 17.7% và là cột số cần điền bằng giá trị hợp lý.</a:t>
            </a:r>
            <a:endParaRPr lang="en-US" sz="1000" dirty="0"/>
          </a:p>
        </p:txBody>
      </p:sp>
      <p:sp>
        <p:nvSpPr>
          <p:cNvPr id="10" name="Missing chart card"/>
          <p:cNvSpPr/>
          <p:nvPr/>
        </p:nvSpPr>
        <p:spPr>
          <a:xfrm>
            <a:off x="3840480" y="1417320"/>
            <a:ext cx="4754880" cy="3063240"/>
          </a:xfrm>
          <a:prstGeom prst="roundRect">
            <a:avLst>
              <a:gd name="adj" fmla="val 3582"/>
            </a:avLst>
          </a:prstGeom>
          <a:solidFill>
            <a:schemeClr val="bg1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11" name="Missing chart heading"/>
          <p:cNvSpPr txBox="1"/>
          <p:nvPr/>
        </p:nvSpPr>
        <p:spPr>
          <a:xfrm>
            <a:off x="4023360" y="155448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Top 7 cột thiếu nhiều nhất (%)</a:t>
            </a:r>
            <a:endParaRPr lang="en-US" sz="10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3931920" y="1783080"/>
          <a:ext cx="457200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863840" y="4572000"/>
            <a:ext cx="7315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94360" y="50292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Ngoại lệ</a:t>
            </a:r>
            <a:endParaRPr lang="en-US" sz="2500" dirty="0"/>
          </a:p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GrLivArea</a:t>
            </a:r>
            <a:endParaRPr lang="en-US" sz="2500" dirty="0"/>
          </a:p>
        </p:txBody>
      </p:sp>
      <p:sp>
        <p:nvSpPr>
          <p:cNvPr id="4" name="Outlier chart card"/>
          <p:cNvSpPr/>
          <p:nvPr/>
        </p:nvSpPr>
        <p:spPr>
          <a:xfrm>
            <a:off x="548640" y="1417320"/>
            <a:ext cx="4297680" cy="3063240"/>
          </a:xfrm>
          <a:prstGeom prst="roundRect">
            <a:avLst>
              <a:gd name="adj" fmla="val 3582"/>
            </a:avLst>
          </a:prstGeom>
          <a:solidFill>
            <a:schemeClr val="bg1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pic>
        <p:nvPicPr>
          <p:cNvPr id="5" name="Scatter of GrLivArea vs SalePrice with outliers" descr="Scatter plot of living area vs sale price; four outliers above 4000 sqft highlight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508760"/>
            <a:ext cx="4078224" cy="2643293"/>
          </a:xfrm>
          <a:prstGeom prst="rect">
            <a:avLst/>
          </a:prstGeom>
        </p:spPr>
      </p:pic>
      <p:sp>
        <p:nvSpPr>
          <p:cNvPr id="6" name="Outlier table card"/>
          <p:cNvSpPr/>
          <p:nvPr/>
        </p:nvSpPr>
        <p:spPr>
          <a:xfrm>
            <a:off x="5120640" y="1417320"/>
            <a:ext cx="347472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graphicFrame>
        <p:nvGraphicFramePr>
          <p:cNvPr id="11" name="Outlier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57800" y="1554480"/>
          <a:ext cx="32004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822960"/>
                <a:gridCol w="914400"/>
                <a:gridCol w="9144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A5578"/>
                          </a:solidFill>
                        </a:rPr>
                        <a:t>Id</a:t>
                      </a:r>
                      <a:endParaRPr lang="en-US" sz="85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A5578"/>
                          </a:solidFill>
                        </a:rPr>
                        <a:t>GrLivArea</a:t>
                      </a:r>
                      <a:endParaRPr lang="en-US" sz="85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A5578"/>
                          </a:solidFill>
                        </a:rPr>
                        <a:t>SalePrice</a:t>
                      </a:r>
                      <a:endParaRPr lang="en-US" sz="85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A5578"/>
                          </a:solidFill>
                        </a:rPr>
                        <a:t>SaleCondition</a:t>
                      </a:r>
                      <a:endParaRPr lang="en-US" sz="85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61F"/>
                          </a:solidFill>
                        </a:rPr>
                        <a:t>524</a:t>
                      </a:r>
                      <a:endParaRPr lang="en-US" sz="95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61F"/>
                          </a:solidFill>
                        </a:rPr>
                        <a:t>4676</a:t>
                      </a:r>
                      <a:endParaRPr lang="en-US" sz="95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61F"/>
                          </a:solidFill>
                        </a:rPr>
                        <a:t>$184,750</a:t>
                      </a:r>
                      <a:endParaRPr lang="en-US" sz="95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61F"/>
                          </a:solidFill>
                        </a:rPr>
                        <a:t>Partial</a:t>
                      </a:r>
                      <a:endParaRPr lang="en-US" sz="95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61F"/>
                          </a:solidFill>
                        </a:rPr>
                        <a:t>692</a:t>
                      </a:r>
                      <a:endParaRPr lang="en-US" sz="95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61F"/>
                          </a:solidFill>
                        </a:rPr>
                        <a:t>4316</a:t>
                      </a:r>
                      <a:endParaRPr lang="en-US" sz="95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61F"/>
                          </a:solidFill>
                        </a:rPr>
                        <a:t>$755,000</a:t>
                      </a:r>
                      <a:endParaRPr lang="en-US" sz="95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61F"/>
                          </a:solidFill>
                        </a:rPr>
                        <a:t>Normal</a:t>
                      </a:r>
                      <a:endParaRPr lang="en-US" sz="95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61F"/>
                          </a:solidFill>
                        </a:rPr>
                        <a:t>1183</a:t>
                      </a:r>
                      <a:endParaRPr lang="en-US" sz="95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61F"/>
                          </a:solidFill>
                        </a:rPr>
                        <a:t>4476</a:t>
                      </a:r>
                      <a:endParaRPr lang="en-US" sz="95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61F"/>
                          </a:solidFill>
                        </a:rPr>
                        <a:t>$745,000</a:t>
                      </a:r>
                      <a:endParaRPr lang="en-US" sz="95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61F"/>
                          </a:solidFill>
                        </a:rPr>
                        <a:t>Abnorml</a:t>
                      </a:r>
                      <a:endParaRPr lang="en-US" sz="95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4161F"/>
                          </a:solidFill>
                        </a:rPr>
                        <a:t>1299</a:t>
                      </a:r>
                      <a:endParaRPr lang="en-US" sz="95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61F"/>
                          </a:solidFill>
                        </a:rPr>
                        <a:t>5642</a:t>
                      </a:r>
                      <a:endParaRPr lang="en-US" sz="95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61F"/>
                          </a:solidFill>
                        </a:rPr>
                        <a:t>$160,000</a:t>
                      </a:r>
                      <a:endParaRPr lang="en-US" sz="95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161F"/>
                          </a:solidFill>
                        </a:rPr>
                        <a:t>Partial</a:t>
                      </a:r>
                      <a:endParaRPr lang="en-US" sz="95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Outlier stat card"/>
          <p:cNvSpPr/>
          <p:nvPr/>
        </p:nvSpPr>
        <p:spPr>
          <a:xfrm>
            <a:off x="5120640" y="3566160"/>
            <a:ext cx="3474720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9" name="Outlier stat value"/>
          <p:cNvSpPr txBox="1"/>
          <p:nvPr/>
        </p:nvSpPr>
        <p:spPr>
          <a:xfrm>
            <a:off x="5303520" y="3703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 nhà</a:t>
            </a:r>
            <a:endParaRPr lang="en-US" sz="1800" dirty="0"/>
          </a:p>
        </p:txBody>
      </p:sp>
      <p:sp>
        <p:nvSpPr>
          <p:cNvPr id="10" name="Outlier stat label"/>
          <p:cNvSpPr txBox="1"/>
          <p:nvPr/>
        </p:nvSpPr>
        <p:spPr>
          <a:xfrm>
            <a:off x="5303520" y="41605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</a:rPr>
              <a:t>bị loại: 1460 → 1456 dòng train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863840" y="4572000"/>
            <a:ext cx="7315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371600" y="5029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Xử lý giá trị thiếu</a:t>
            </a:r>
            <a:endParaRPr lang="en-US" sz="2500" dirty="0"/>
          </a:p>
        </p:txBody>
      </p:sp>
      <p:sp>
        <p:nvSpPr>
          <p:cNvPr id="4" name="Missing circle 1 shape"/>
          <p:cNvSpPr/>
          <p:nvPr/>
        </p:nvSpPr>
        <p:spPr>
          <a:xfrm>
            <a:off x="1005840" y="1371600"/>
            <a:ext cx="1005840" cy="1005840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5" name="Missing circle 1"/>
          <p:cNvSpPr txBox="1"/>
          <p:nvPr/>
        </p:nvSpPr>
        <p:spPr>
          <a:xfrm>
            <a:off x="1005840" y="13716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None / 0</a:t>
            </a:r>
            <a:endParaRPr lang="en-US" sz="1050" dirty="0"/>
          </a:p>
        </p:txBody>
      </p:sp>
      <p:sp>
        <p:nvSpPr>
          <p:cNvPr id="6" name="Missing text card 1"/>
          <p:cNvSpPr/>
          <p:nvPr/>
        </p:nvSpPr>
        <p:spPr>
          <a:xfrm>
            <a:off x="594360" y="2697480"/>
            <a:ext cx="1828800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7" name="Missing text head 1"/>
          <p:cNvSpPr txBox="1"/>
          <p:nvPr/>
        </p:nvSpPr>
        <p:spPr>
          <a:xfrm>
            <a:off x="731520" y="28163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Thiếu = “không có”</a:t>
            </a:r>
            <a:endParaRPr lang="en-US" sz="1050" dirty="0"/>
          </a:p>
        </p:txBody>
      </p:sp>
      <p:sp>
        <p:nvSpPr>
          <p:cNvPr id="8" name="Missing text body 1"/>
          <p:cNvSpPr txBox="1"/>
          <p:nvPr/>
        </p:nvSpPr>
        <p:spPr>
          <a:xfrm>
            <a:off x="731520" y="315468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Tầng hầm, garage, hồ bơi, hàng rào…: cột phân loại điền None, cột số điền 0.</a:t>
            </a:r>
            <a:endParaRPr lang="en-US" sz="1000" dirty="0"/>
          </a:p>
        </p:txBody>
      </p:sp>
      <p:sp>
        <p:nvSpPr>
          <p:cNvPr id="9" name="Missing circle 2 shape"/>
          <p:cNvSpPr/>
          <p:nvPr/>
        </p:nvSpPr>
        <p:spPr>
          <a:xfrm>
            <a:off x="3017520" y="1371600"/>
            <a:ext cx="1005840" cy="1005840"/>
          </a:xfrm>
          <a:prstGeom prst="ellipse">
            <a:avLst/>
          </a:prstGeom>
          <a:solidFill>
            <a:srgbClr val="EEF2FA"/>
          </a:solidFill>
          <a:ln/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10" name="Missing circle 2"/>
          <p:cNvSpPr txBox="1"/>
          <p:nvPr/>
        </p:nvSpPr>
        <p:spPr>
          <a:xfrm>
            <a:off x="3017520" y="13716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YearBuilt</a:t>
            </a:r>
            <a:endParaRPr lang="en-US" sz="1050" dirty="0"/>
          </a:p>
        </p:txBody>
      </p:sp>
      <p:sp>
        <p:nvSpPr>
          <p:cNvPr id="11" name="Missing text card 2"/>
          <p:cNvSpPr/>
          <p:nvPr/>
        </p:nvSpPr>
        <p:spPr>
          <a:xfrm>
            <a:off x="2606040" y="2697480"/>
            <a:ext cx="1828800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12" name="Missing text head 2"/>
          <p:cNvSpPr txBox="1"/>
          <p:nvPr/>
        </p:nvSpPr>
        <p:spPr>
          <a:xfrm>
            <a:off x="2743200" y="28163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GarageYrBlt</a:t>
            </a:r>
            <a:endParaRPr lang="en-US" sz="1050" dirty="0"/>
          </a:p>
        </p:txBody>
      </p:sp>
      <p:sp>
        <p:nvSpPr>
          <p:cNvPr id="13" name="Missing text body 2"/>
          <p:cNvSpPr txBox="1"/>
          <p:nvPr/>
        </p:nvSpPr>
        <p:spPr>
          <a:xfrm>
            <a:off x="2743200" y="315468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Nhà không có garage thì dùng năm xây nhà thay cho năm xây garage.</a:t>
            </a:r>
            <a:endParaRPr lang="en-US" sz="1000" dirty="0"/>
          </a:p>
        </p:txBody>
      </p:sp>
      <p:sp>
        <p:nvSpPr>
          <p:cNvPr id="14" name="Missing circle 3 shape"/>
          <p:cNvSpPr/>
          <p:nvPr/>
        </p:nvSpPr>
        <p:spPr>
          <a:xfrm>
            <a:off x="5029200" y="1371600"/>
            <a:ext cx="1005840" cy="1005840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15" name="Missing circle 3"/>
          <p:cNvSpPr txBox="1"/>
          <p:nvPr/>
        </p:nvSpPr>
        <p:spPr>
          <a:xfrm>
            <a:off x="5029200" y="13716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Median</a:t>
            </a:r>
            <a:endParaRPr lang="en-US" sz="1050" dirty="0"/>
          </a:p>
        </p:txBody>
      </p:sp>
      <p:sp>
        <p:nvSpPr>
          <p:cNvPr id="16" name="Missing text card 3"/>
          <p:cNvSpPr/>
          <p:nvPr/>
        </p:nvSpPr>
        <p:spPr>
          <a:xfrm>
            <a:off x="4617720" y="2697480"/>
            <a:ext cx="1828800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17" name="Missing text head 3"/>
          <p:cNvSpPr txBox="1"/>
          <p:nvPr/>
        </p:nvSpPr>
        <p:spPr>
          <a:xfrm>
            <a:off x="4754880" y="28163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LotFrontage</a:t>
            </a:r>
            <a:endParaRPr lang="en-US" sz="1050" dirty="0"/>
          </a:p>
        </p:txBody>
      </p:sp>
      <p:sp>
        <p:nvSpPr>
          <p:cNvPr id="18" name="Missing text body 3"/>
          <p:cNvSpPr txBox="1"/>
          <p:nvPr/>
        </p:nvSpPr>
        <p:spPr>
          <a:xfrm>
            <a:off x="4754880" y="315468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Điền median theo từng Neighborhood vì nhà cùng khu có mặt tiền tương tự.</a:t>
            </a:r>
            <a:endParaRPr lang="en-US" sz="1000" dirty="0"/>
          </a:p>
        </p:txBody>
      </p:sp>
      <p:sp>
        <p:nvSpPr>
          <p:cNvPr id="19" name="Missing circle 4 shape"/>
          <p:cNvSpPr/>
          <p:nvPr/>
        </p:nvSpPr>
        <p:spPr>
          <a:xfrm>
            <a:off x="7040880" y="1371600"/>
            <a:ext cx="1005840" cy="1005840"/>
          </a:xfrm>
          <a:prstGeom prst="ellipse">
            <a:avLst/>
          </a:prstGeom>
          <a:solidFill>
            <a:srgbClr val="EEF2FA"/>
          </a:solidFill>
          <a:ln/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20" name="Missing circle 4"/>
          <p:cNvSpPr txBox="1"/>
          <p:nvPr/>
        </p:nvSpPr>
        <p:spPr>
          <a:xfrm>
            <a:off x="7040880" y="13716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Mode</a:t>
            </a:r>
            <a:endParaRPr lang="en-US" sz="1050" dirty="0"/>
          </a:p>
        </p:txBody>
      </p:sp>
      <p:sp>
        <p:nvSpPr>
          <p:cNvPr id="21" name="Missing text card 4"/>
          <p:cNvSpPr/>
          <p:nvPr/>
        </p:nvSpPr>
        <p:spPr>
          <a:xfrm>
            <a:off x="6629400" y="2697480"/>
            <a:ext cx="1828800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22" name="Missing text head 4"/>
          <p:cNvSpPr txBox="1"/>
          <p:nvPr/>
        </p:nvSpPr>
        <p:spPr>
          <a:xfrm>
            <a:off x="6766560" y="28163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Cột còn lại</a:t>
            </a:r>
            <a:endParaRPr lang="en-US" sz="1050" dirty="0"/>
          </a:p>
        </p:txBody>
      </p:sp>
      <p:sp>
        <p:nvSpPr>
          <p:cNvPr id="23" name="Missing text body 4"/>
          <p:cNvSpPr txBox="1"/>
          <p:nvPr/>
        </p:nvSpPr>
        <p:spPr>
          <a:xfrm>
            <a:off x="6766560" y="315468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Cột phân loại thiếu ít điền mode, cột số còn lại điền median.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863840" y="4572000"/>
            <a:ext cx="7315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94360" y="50292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Mã hoá &amp;</a:t>
            </a:r>
            <a:endParaRPr lang="en-US" sz="2500" dirty="0"/>
          </a:p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biến đổi</a:t>
            </a:r>
            <a:endParaRPr lang="en-US" sz="2500" dirty="0"/>
          </a:p>
        </p:txBody>
      </p:sp>
      <p:sp>
        <p:nvSpPr>
          <p:cNvPr id="4" name="Enc 01 card"/>
          <p:cNvSpPr/>
          <p:nvPr/>
        </p:nvSpPr>
        <p:spPr>
          <a:xfrm>
            <a:off x="548640" y="1508760"/>
            <a:ext cx="1783080" cy="292608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5" name="Enc 01 circle shape"/>
          <p:cNvSpPr/>
          <p:nvPr/>
        </p:nvSpPr>
        <p:spPr>
          <a:xfrm>
            <a:off x="731520" y="1691640"/>
            <a:ext cx="502920" cy="502920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6" name="Enc 01 circle"/>
          <p:cNvSpPr txBox="1"/>
          <p:nvPr/>
        </p:nvSpPr>
        <p:spPr>
          <a:xfrm>
            <a:off x="73152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01</a:t>
            </a:r>
            <a:endParaRPr lang="en-US" sz="1050" dirty="0"/>
          </a:p>
        </p:txBody>
      </p:sp>
      <p:sp>
        <p:nvSpPr>
          <p:cNvPr id="7" name="Enc 01 head"/>
          <p:cNvSpPr txBox="1"/>
          <p:nvPr/>
        </p:nvSpPr>
        <p:spPr>
          <a:xfrm>
            <a:off x="731520" y="2377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Ordinal</a:t>
            </a:r>
            <a:endParaRPr lang="en-US" sz="1200" dirty="0"/>
          </a:p>
        </p:txBody>
      </p:sp>
      <p:sp>
        <p:nvSpPr>
          <p:cNvPr id="8" name="Enc 01 body"/>
          <p:cNvSpPr txBox="1"/>
          <p:nvPr/>
        </p:nvSpPr>
        <p:spPr>
          <a:xfrm>
            <a:off x="731520" y="2743200"/>
            <a:ext cx="1463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chemeClr val="tx2"/>
                </a:solidFill>
              </a:rPr>
              <a:t>Cột chất lượng (None = 0, Po … Ex = 5), BsmtExposure, GarageFinish, CentralAir…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chemeClr val="tx2"/>
                </a:solidFill>
              </a:rPr>
              <a:t>Giữ thứ tự tốt → xấu.</a:t>
            </a:r>
            <a:endParaRPr lang="en-US" sz="950" dirty="0"/>
          </a:p>
        </p:txBody>
      </p:sp>
      <p:sp>
        <p:nvSpPr>
          <p:cNvPr id="9" name="Enc 02 card"/>
          <p:cNvSpPr/>
          <p:nvPr/>
        </p:nvSpPr>
        <p:spPr>
          <a:xfrm>
            <a:off x="2468880" y="1508760"/>
            <a:ext cx="1783080" cy="2926080"/>
          </a:xfrm>
          <a:prstGeom prst="roundRect">
            <a:avLst>
              <a:gd name="adj" fmla="val 6154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10" name="Enc 02 circle shape"/>
          <p:cNvSpPr/>
          <p:nvPr/>
        </p:nvSpPr>
        <p:spPr>
          <a:xfrm>
            <a:off x="2651760" y="1691640"/>
            <a:ext cx="502920" cy="502920"/>
          </a:xfrm>
          <a:prstGeom prst="ellipse">
            <a:avLst/>
          </a:prstGeom>
          <a:solidFill>
            <a:srgbClr val="EEF2FA"/>
          </a:solidFill>
          <a:ln/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11" name="Enc 02 circle"/>
          <p:cNvSpPr txBox="1"/>
          <p:nvPr/>
        </p:nvSpPr>
        <p:spPr>
          <a:xfrm>
            <a:off x="26517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02</a:t>
            </a:r>
            <a:endParaRPr lang="en-US" sz="1050" dirty="0"/>
          </a:p>
        </p:txBody>
      </p:sp>
      <p:sp>
        <p:nvSpPr>
          <p:cNvPr id="12" name="Enc 02 head"/>
          <p:cNvSpPr txBox="1"/>
          <p:nvPr/>
        </p:nvSpPr>
        <p:spPr>
          <a:xfrm>
            <a:off x="2651760" y="2377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log1p</a:t>
            </a:r>
            <a:endParaRPr lang="en-US" sz="1200" dirty="0"/>
          </a:p>
        </p:txBody>
      </p:sp>
      <p:sp>
        <p:nvSpPr>
          <p:cNvPr id="13" name="Enc 02 body"/>
          <p:cNvSpPr txBox="1"/>
          <p:nvPr/>
        </p:nvSpPr>
        <p:spPr>
          <a:xfrm>
            <a:off x="2651760" y="2743200"/>
            <a:ext cx="1463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chemeClr val="bg1"/>
                </a:solidFill>
              </a:rPr>
              <a:t>Áp dụng cho SalePrice và 33 biến số lệch (|skew| &gt; 0.75).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chemeClr val="bg1"/>
                </a:solidFill>
              </a:rPr>
              <a:t>Bỏ qua cột nhị phân 0/1.</a:t>
            </a:r>
            <a:endParaRPr lang="en-US" sz="950" dirty="0"/>
          </a:p>
        </p:txBody>
      </p:sp>
      <p:sp>
        <p:nvSpPr>
          <p:cNvPr id="14" name="Enc 03 card"/>
          <p:cNvSpPr/>
          <p:nvPr/>
        </p:nvSpPr>
        <p:spPr>
          <a:xfrm>
            <a:off x="4389120" y="1508760"/>
            <a:ext cx="1783080" cy="292608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15" name="Enc 03 circle shape"/>
          <p:cNvSpPr/>
          <p:nvPr/>
        </p:nvSpPr>
        <p:spPr>
          <a:xfrm>
            <a:off x="4572000" y="1691640"/>
            <a:ext cx="502920" cy="502920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16" name="Enc 03 circle"/>
          <p:cNvSpPr txBox="1"/>
          <p:nvPr/>
        </p:nvSpPr>
        <p:spPr>
          <a:xfrm>
            <a:off x="457200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03</a:t>
            </a:r>
            <a:endParaRPr lang="en-US" sz="1050" dirty="0"/>
          </a:p>
        </p:txBody>
      </p:sp>
      <p:sp>
        <p:nvSpPr>
          <p:cNvPr id="17" name="Enc 03 head"/>
          <p:cNvSpPr txBox="1"/>
          <p:nvPr/>
        </p:nvSpPr>
        <p:spPr>
          <a:xfrm>
            <a:off x="4572000" y="2377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One-Hot</a:t>
            </a:r>
            <a:endParaRPr lang="en-US" sz="1200" dirty="0"/>
          </a:p>
        </p:txBody>
      </p:sp>
      <p:sp>
        <p:nvSpPr>
          <p:cNvPr id="18" name="Enc 03 body"/>
          <p:cNvSpPr txBox="1"/>
          <p:nvPr/>
        </p:nvSpPr>
        <p:spPr>
          <a:xfrm>
            <a:off x="4572000" y="2743200"/>
            <a:ext cx="1463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chemeClr val="tx2"/>
                </a:solidFill>
              </a:rPr>
              <a:t>Các cột phân loại còn lại, drop_first.</a:t>
            </a:r>
            <a:endParaRPr lang="en-US" sz="9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chemeClr val="tx2"/>
                </a:solidFill>
              </a:rPr>
              <a:t>MSSubClass, MoSold, YrSold đổi sang chuỗi trước khi mã hoá.</a:t>
            </a:r>
            <a:endParaRPr lang="en-US" sz="950" dirty="0"/>
          </a:p>
        </p:txBody>
      </p:sp>
      <p:sp>
        <p:nvSpPr>
          <p:cNvPr id="19" name="Enc stat card"/>
          <p:cNvSpPr/>
          <p:nvPr/>
        </p:nvSpPr>
        <p:spPr>
          <a:xfrm>
            <a:off x="6400800" y="1508760"/>
            <a:ext cx="2194560" cy="13716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20" name="Enc stat value"/>
          <p:cNvSpPr txBox="1"/>
          <p:nvPr/>
        </p:nvSpPr>
        <p:spPr>
          <a:xfrm>
            <a:off x="6583680" y="1645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247</a:t>
            </a:r>
            <a:endParaRPr lang="en-US" sz="3000" dirty="0"/>
          </a:p>
        </p:txBody>
      </p:sp>
      <p:sp>
        <p:nvSpPr>
          <p:cNvPr id="21" name="Enc stat label"/>
          <p:cNvSpPr txBox="1"/>
          <p:nvPr/>
        </p:nvSpPr>
        <p:spPr>
          <a:xfrm>
            <a:off x="6583680" y="22860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</a:rPr>
              <a:t>đặc trưng sau One-Hot (train 1456 dòng, test 1459 dòng)</a:t>
            </a:r>
            <a:endParaRPr lang="en-US" sz="900" dirty="0"/>
          </a:p>
        </p:txBody>
      </p:sp>
      <p:sp>
        <p:nvSpPr>
          <p:cNvPr id="22" name="Enc stat2 card"/>
          <p:cNvSpPr/>
          <p:nvPr/>
        </p:nvSpPr>
        <p:spPr>
          <a:xfrm>
            <a:off x="6400800" y="3017520"/>
            <a:ext cx="219456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23" name="Enc stat2 value"/>
          <p:cNvSpPr txBox="1"/>
          <p:nvPr/>
        </p:nvSpPr>
        <p:spPr>
          <a:xfrm>
            <a:off x="6583680" y="31546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33</a:t>
            </a:r>
            <a:endParaRPr lang="en-US" sz="3000" dirty="0"/>
          </a:p>
        </p:txBody>
      </p:sp>
      <p:sp>
        <p:nvSpPr>
          <p:cNvPr id="24" name="Enc stat2 label"/>
          <p:cNvSpPr txBox="1"/>
          <p:nvPr/>
        </p:nvSpPr>
        <p:spPr>
          <a:xfrm>
            <a:off x="6583680" y="37947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biến số được log1p để giảm độ lệch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863840" y="4572000"/>
            <a:ext cx="7315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94360" y="50292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Kỹ thuật</a:t>
            </a:r>
            <a:endParaRPr lang="en-US" sz="2500" dirty="0"/>
          </a:p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đặc trưng</a:t>
            </a:r>
            <a:endParaRPr lang="en-US" sz="2500" dirty="0"/>
          </a:p>
        </p:txBody>
      </p:sp>
      <p:sp>
        <p:nvSpPr>
          <p:cNvPr id="4" name="FE paragraph"/>
          <p:cNvSpPr txBox="1"/>
          <p:nvPr/>
        </p:nvSpPr>
        <p:spPr>
          <a:xfrm>
            <a:off x="3840480" y="56692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11 đặc trưng mới được tạo thêm từ các cột có sẵn, trong đó TotalSF là đặc trưng quan trọng nhất của mô hình.</a:t>
            </a:r>
            <a:endParaRPr lang="en-US" sz="1000" dirty="0"/>
          </a:p>
        </p:txBody>
      </p:sp>
      <p:sp>
        <p:nvSpPr>
          <p:cNvPr id="5" name="FE 1 card"/>
          <p:cNvSpPr/>
          <p:nvPr/>
        </p:nvSpPr>
        <p:spPr>
          <a:xfrm>
            <a:off x="548640" y="1508760"/>
            <a:ext cx="2560320" cy="1325880"/>
          </a:xfrm>
          <a:prstGeom prst="roundRect">
            <a:avLst>
              <a:gd name="adj" fmla="val 827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6" name="FE 1 num"/>
          <p:cNvSpPr txBox="1"/>
          <p:nvPr/>
        </p:nvSpPr>
        <p:spPr>
          <a:xfrm>
            <a:off x="731520" y="16459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FE 1 head"/>
          <p:cNvSpPr txBox="1"/>
          <p:nvPr/>
        </p:nvSpPr>
        <p:spPr>
          <a:xfrm>
            <a:off x="731520" y="20116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TotalSF</a:t>
            </a:r>
            <a:endParaRPr lang="en-US" sz="1050" dirty="0"/>
          </a:p>
        </p:txBody>
      </p:sp>
      <p:sp>
        <p:nvSpPr>
          <p:cNvPr id="8" name="FE 1 body"/>
          <p:cNvSpPr txBox="1"/>
          <p:nvPr/>
        </p:nvSpPr>
        <p:spPr>
          <a:xfrm>
            <a:off x="731520" y="22860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bg1"/>
                </a:solidFill>
              </a:rPr>
              <a:t>TotalBsmtSF + 1stFlrSF + 2ndFlrSF: tổng diện tích sử dụng.</a:t>
            </a:r>
            <a:endParaRPr lang="en-US" sz="850" dirty="0"/>
          </a:p>
        </p:txBody>
      </p:sp>
      <p:sp>
        <p:nvSpPr>
          <p:cNvPr id="9" name="FE 2 card"/>
          <p:cNvSpPr/>
          <p:nvPr/>
        </p:nvSpPr>
        <p:spPr>
          <a:xfrm>
            <a:off x="3273552" y="1508760"/>
            <a:ext cx="256032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10" name="FE 2 num"/>
          <p:cNvSpPr txBox="1"/>
          <p:nvPr/>
        </p:nvSpPr>
        <p:spPr>
          <a:xfrm>
            <a:off x="3456432" y="16459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FE 2 head"/>
          <p:cNvSpPr txBox="1"/>
          <p:nvPr/>
        </p:nvSpPr>
        <p:spPr>
          <a:xfrm>
            <a:off x="3456432" y="20116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HouseAge</a:t>
            </a:r>
            <a:endParaRPr lang="en-US" sz="1050" dirty="0"/>
          </a:p>
        </p:txBody>
      </p:sp>
      <p:sp>
        <p:nvSpPr>
          <p:cNvPr id="12" name="FE 2 body"/>
          <p:cNvSpPr txBox="1"/>
          <p:nvPr/>
        </p:nvSpPr>
        <p:spPr>
          <a:xfrm>
            <a:off x="3456432" y="22860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YrSold − YearBuilt: tuổi nhà lúc bán.</a:t>
            </a:r>
            <a:endParaRPr lang="en-US" sz="850" dirty="0"/>
          </a:p>
        </p:txBody>
      </p:sp>
      <p:sp>
        <p:nvSpPr>
          <p:cNvPr id="13" name="FE 3 card"/>
          <p:cNvSpPr/>
          <p:nvPr/>
        </p:nvSpPr>
        <p:spPr>
          <a:xfrm>
            <a:off x="5998464" y="1508760"/>
            <a:ext cx="256032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14" name="FE 3 num"/>
          <p:cNvSpPr txBox="1"/>
          <p:nvPr/>
        </p:nvSpPr>
        <p:spPr>
          <a:xfrm>
            <a:off x="6181344" y="16459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03</a:t>
            </a:r>
            <a:endParaRPr lang="en-US" sz="1600" dirty="0"/>
          </a:p>
        </p:txBody>
      </p:sp>
      <p:sp>
        <p:nvSpPr>
          <p:cNvPr id="15" name="FE 3 head"/>
          <p:cNvSpPr txBox="1"/>
          <p:nvPr/>
        </p:nvSpPr>
        <p:spPr>
          <a:xfrm>
            <a:off x="6181344" y="20116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RemodAge · IsRemodeled</a:t>
            </a:r>
            <a:endParaRPr lang="en-US" sz="1050" dirty="0"/>
          </a:p>
        </p:txBody>
      </p:sp>
      <p:sp>
        <p:nvSpPr>
          <p:cNvPr id="16" name="FE 3 body"/>
          <p:cNvSpPr txBox="1"/>
          <p:nvPr/>
        </p:nvSpPr>
        <p:spPr>
          <a:xfrm>
            <a:off x="6181344" y="22860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Số năm kể từ lần sửa gần nhất và cờ đã sửa.</a:t>
            </a:r>
            <a:endParaRPr lang="en-US" sz="850" dirty="0"/>
          </a:p>
        </p:txBody>
      </p:sp>
      <p:sp>
        <p:nvSpPr>
          <p:cNvPr id="17" name="FE 4 card"/>
          <p:cNvSpPr/>
          <p:nvPr/>
        </p:nvSpPr>
        <p:spPr>
          <a:xfrm>
            <a:off x="548640" y="3017520"/>
            <a:ext cx="256032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18" name="FE 4 num"/>
          <p:cNvSpPr txBox="1"/>
          <p:nvPr/>
        </p:nvSpPr>
        <p:spPr>
          <a:xfrm>
            <a:off x="731520" y="31546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04</a:t>
            </a:r>
            <a:endParaRPr lang="en-US" sz="1600" dirty="0"/>
          </a:p>
        </p:txBody>
      </p:sp>
      <p:sp>
        <p:nvSpPr>
          <p:cNvPr id="19" name="FE 4 head"/>
          <p:cNvSpPr txBox="1"/>
          <p:nvPr/>
        </p:nvSpPr>
        <p:spPr>
          <a:xfrm>
            <a:off x="731520" y="35204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TotalBath</a:t>
            </a:r>
            <a:endParaRPr lang="en-US" sz="1050" dirty="0"/>
          </a:p>
        </p:txBody>
      </p:sp>
      <p:sp>
        <p:nvSpPr>
          <p:cNvPr id="20" name="FE 4 body"/>
          <p:cNvSpPr txBox="1"/>
          <p:nvPr/>
        </p:nvSpPr>
        <p:spPr>
          <a:xfrm>
            <a:off x="731520" y="37947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Full + 0.5 × Half, tính cả phòng tắm tầng hầm.</a:t>
            </a:r>
            <a:endParaRPr lang="en-US" sz="850" dirty="0"/>
          </a:p>
        </p:txBody>
      </p:sp>
      <p:sp>
        <p:nvSpPr>
          <p:cNvPr id="21" name="FE 5 card"/>
          <p:cNvSpPr/>
          <p:nvPr/>
        </p:nvSpPr>
        <p:spPr>
          <a:xfrm>
            <a:off x="3273552" y="3017520"/>
            <a:ext cx="256032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22" name="FE 5 num"/>
          <p:cNvSpPr txBox="1"/>
          <p:nvPr/>
        </p:nvSpPr>
        <p:spPr>
          <a:xfrm>
            <a:off x="3456432" y="31546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05</a:t>
            </a:r>
            <a:endParaRPr lang="en-US" sz="1600" dirty="0"/>
          </a:p>
        </p:txBody>
      </p:sp>
      <p:sp>
        <p:nvSpPr>
          <p:cNvPr id="23" name="FE 5 head"/>
          <p:cNvSpPr txBox="1"/>
          <p:nvPr/>
        </p:nvSpPr>
        <p:spPr>
          <a:xfrm>
            <a:off x="3456432" y="35204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TotalPorchSF</a:t>
            </a:r>
            <a:endParaRPr lang="en-US" sz="1050" dirty="0"/>
          </a:p>
        </p:txBody>
      </p:sp>
      <p:sp>
        <p:nvSpPr>
          <p:cNvPr id="24" name="FE 5 body"/>
          <p:cNvSpPr txBox="1"/>
          <p:nvPr/>
        </p:nvSpPr>
        <p:spPr>
          <a:xfrm>
            <a:off x="3456432" y="37947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Tổng diện tích hiên, sàn gỗ và hiên kín.</a:t>
            </a:r>
            <a:endParaRPr lang="en-US" sz="850" dirty="0"/>
          </a:p>
        </p:txBody>
      </p:sp>
      <p:sp>
        <p:nvSpPr>
          <p:cNvPr id="25" name="FE 6 card"/>
          <p:cNvSpPr/>
          <p:nvPr/>
        </p:nvSpPr>
        <p:spPr>
          <a:xfrm>
            <a:off x="5998464" y="3017520"/>
            <a:ext cx="256032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26" name="FE 6 num"/>
          <p:cNvSpPr txBox="1"/>
          <p:nvPr/>
        </p:nvSpPr>
        <p:spPr>
          <a:xfrm>
            <a:off x="6181344" y="31546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06</a:t>
            </a:r>
            <a:endParaRPr lang="en-US" sz="1600" dirty="0"/>
          </a:p>
        </p:txBody>
      </p:sp>
      <p:sp>
        <p:nvSpPr>
          <p:cNvPr id="27" name="FE 6 head"/>
          <p:cNvSpPr txBox="1"/>
          <p:nvPr/>
        </p:nvSpPr>
        <p:spPr>
          <a:xfrm>
            <a:off x="6181344" y="35204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Has* · OverallScore</a:t>
            </a:r>
            <a:endParaRPr lang="en-US" sz="1050" dirty="0"/>
          </a:p>
        </p:txBody>
      </p:sp>
      <p:sp>
        <p:nvSpPr>
          <p:cNvPr id="28" name="FE 6 body"/>
          <p:cNvSpPr txBox="1"/>
          <p:nvPr/>
        </p:nvSpPr>
        <p:spPr>
          <a:xfrm>
            <a:off x="6181344" y="37947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Cờ có Pool, Garage, Bsmt, Fireplace; OverallQual × OverallCond.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863840" y="4572000"/>
            <a:ext cx="7315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94360" y="50292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Các mô hình</a:t>
            </a:r>
            <a:endParaRPr lang="en-US" sz="2500" dirty="0"/>
          </a:p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sử dụng</a:t>
            </a:r>
            <a:endParaRPr lang="en-US" sz="2500" dirty="0"/>
          </a:p>
        </p:txBody>
      </p:sp>
      <p:pic>
        <p:nvPicPr>
          <p:cNvPr id="4" name="Isometric network" descr="Isometric netwo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411480"/>
            <a:ext cx="2286000" cy="1354540"/>
          </a:xfrm>
          <a:prstGeom prst="rect">
            <a:avLst/>
          </a:prstGeom>
        </p:spPr>
      </p:pic>
      <p:sp>
        <p:nvSpPr>
          <p:cNvPr id="5" name="Model 1 card"/>
          <p:cNvSpPr/>
          <p:nvPr/>
        </p:nvSpPr>
        <p:spPr>
          <a:xfrm>
            <a:off x="548640" y="1920240"/>
            <a:ext cx="2560320" cy="1143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6" name="Model 1 pill shape"/>
          <p:cNvSpPr/>
          <p:nvPr/>
        </p:nvSpPr>
        <p:spPr>
          <a:xfrm>
            <a:off x="713232" y="2075688"/>
            <a:ext cx="155448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7" name="Model 1 pill"/>
          <p:cNvSpPr txBox="1"/>
          <p:nvPr/>
        </p:nvSpPr>
        <p:spPr>
          <a:xfrm>
            <a:off x="713232" y="20756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Linear Regression</a:t>
            </a:r>
            <a:endParaRPr lang="en-US" sz="850" dirty="0"/>
          </a:p>
        </p:txBody>
      </p:sp>
      <p:sp>
        <p:nvSpPr>
          <p:cNvPr id="8" name="Model 1 text"/>
          <p:cNvSpPr txBox="1"/>
          <p:nvPr/>
        </p:nvSpPr>
        <p:spPr>
          <a:xfrm>
            <a:off x="713232" y="24688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RobustScaler + LinearRegression</a:t>
            </a:r>
            <a:endParaRPr lang="en-US" sz="900" dirty="0"/>
          </a:p>
        </p:txBody>
      </p:sp>
      <p:sp>
        <p:nvSpPr>
          <p:cNvPr id="9" name="Model 2 card"/>
          <p:cNvSpPr/>
          <p:nvPr/>
        </p:nvSpPr>
        <p:spPr>
          <a:xfrm>
            <a:off x="3273552" y="1920240"/>
            <a:ext cx="2560320" cy="1143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10" name="Model 2 pill shape"/>
          <p:cNvSpPr/>
          <p:nvPr/>
        </p:nvSpPr>
        <p:spPr>
          <a:xfrm>
            <a:off x="3438144" y="2075688"/>
            <a:ext cx="155448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11" name="Model 2 pill"/>
          <p:cNvSpPr txBox="1"/>
          <p:nvPr/>
        </p:nvSpPr>
        <p:spPr>
          <a:xfrm>
            <a:off x="3438144" y="20756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Ridge</a:t>
            </a:r>
            <a:endParaRPr lang="en-US" sz="850" dirty="0"/>
          </a:p>
        </p:txBody>
      </p:sp>
      <p:sp>
        <p:nvSpPr>
          <p:cNvPr id="12" name="Model 2 text"/>
          <p:cNvSpPr txBox="1"/>
          <p:nvPr/>
        </p:nvSpPr>
        <p:spPr>
          <a:xfrm>
            <a:off x="3438144" y="24688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RobustScaler + Ridge, alpha = 15</a:t>
            </a:r>
            <a:endParaRPr lang="en-US" sz="900" dirty="0"/>
          </a:p>
        </p:txBody>
      </p:sp>
      <p:sp>
        <p:nvSpPr>
          <p:cNvPr id="13" name="Model 3 card"/>
          <p:cNvSpPr/>
          <p:nvPr/>
        </p:nvSpPr>
        <p:spPr>
          <a:xfrm>
            <a:off x="5998464" y="1920240"/>
            <a:ext cx="2560320" cy="1143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14" name="Model 3 pill shape"/>
          <p:cNvSpPr/>
          <p:nvPr/>
        </p:nvSpPr>
        <p:spPr>
          <a:xfrm>
            <a:off x="6163056" y="2075688"/>
            <a:ext cx="155448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15" name="Model 3 pill"/>
          <p:cNvSpPr txBox="1"/>
          <p:nvPr/>
        </p:nvSpPr>
        <p:spPr>
          <a:xfrm>
            <a:off x="6163056" y="20756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Lasso</a:t>
            </a:r>
            <a:endParaRPr lang="en-US" sz="850" dirty="0"/>
          </a:p>
        </p:txBody>
      </p:sp>
      <p:sp>
        <p:nvSpPr>
          <p:cNvPr id="16" name="Model 3 text"/>
          <p:cNvSpPr txBox="1"/>
          <p:nvPr/>
        </p:nvSpPr>
        <p:spPr>
          <a:xfrm>
            <a:off x="6163056" y="24688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RobustScaler + Lasso, alpha = 0.0005</a:t>
            </a:r>
            <a:endParaRPr lang="en-US" sz="900" dirty="0"/>
          </a:p>
        </p:txBody>
      </p:sp>
      <p:sp>
        <p:nvSpPr>
          <p:cNvPr id="17" name="Model 4 card"/>
          <p:cNvSpPr/>
          <p:nvPr/>
        </p:nvSpPr>
        <p:spPr>
          <a:xfrm>
            <a:off x="548640" y="3246120"/>
            <a:ext cx="2560320" cy="1143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18" name="Model 4 pill shape"/>
          <p:cNvSpPr/>
          <p:nvPr/>
        </p:nvSpPr>
        <p:spPr>
          <a:xfrm>
            <a:off x="713232" y="3401568"/>
            <a:ext cx="155448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19" name="Model 4 pill"/>
          <p:cNvSpPr txBox="1"/>
          <p:nvPr/>
        </p:nvSpPr>
        <p:spPr>
          <a:xfrm>
            <a:off x="713232" y="34015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Random Forest</a:t>
            </a:r>
            <a:endParaRPr lang="en-US" sz="850" dirty="0"/>
          </a:p>
        </p:txBody>
      </p:sp>
      <p:sp>
        <p:nvSpPr>
          <p:cNvPr id="20" name="Model 4 text"/>
          <p:cNvSpPr txBox="1"/>
          <p:nvPr/>
        </p:nvSpPr>
        <p:spPr>
          <a:xfrm>
            <a:off x="713232" y="37947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300 cây, min_samples_leaf = 2</a:t>
            </a:r>
            <a:endParaRPr lang="en-US" sz="900" dirty="0"/>
          </a:p>
        </p:txBody>
      </p:sp>
      <p:sp>
        <p:nvSpPr>
          <p:cNvPr id="21" name="Model 5 card"/>
          <p:cNvSpPr/>
          <p:nvPr/>
        </p:nvSpPr>
        <p:spPr>
          <a:xfrm>
            <a:off x="3273552" y="3246120"/>
            <a:ext cx="2560320" cy="1143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22" name="Model 5 pill shape"/>
          <p:cNvSpPr/>
          <p:nvPr/>
        </p:nvSpPr>
        <p:spPr>
          <a:xfrm>
            <a:off x="3438144" y="3401568"/>
            <a:ext cx="155448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23" name="Model 5 pill"/>
          <p:cNvSpPr txBox="1"/>
          <p:nvPr/>
        </p:nvSpPr>
        <p:spPr>
          <a:xfrm>
            <a:off x="3438144" y="34015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Gradient Boosting</a:t>
            </a:r>
            <a:endParaRPr lang="en-US" sz="850" dirty="0"/>
          </a:p>
        </p:txBody>
      </p:sp>
      <p:sp>
        <p:nvSpPr>
          <p:cNvPr id="24" name="Model 5 text"/>
          <p:cNvSpPr txBox="1"/>
          <p:nvPr/>
        </p:nvSpPr>
        <p:spPr>
          <a:xfrm>
            <a:off x="3438144" y="37947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300 cây, lr = 0.05, depth = 3, subsample = 0.8</a:t>
            </a:r>
            <a:endParaRPr lang="en-US" sz="900" dirty="0"/>
          </a:p>
        </p:txBody>
      </p:sp>
      <p:sp>
        <p:nvSpPr>
          <p:cNvPr id="25" name="Model 6 card"/>
          <p:cNvSpPr/>
          <p:nvPr/>
        </p:nvSpPr>
        <p:spPr>
          <a:xfrm>
            <a:off x="5998464" y="3246120"/>
            <a:ext cx="2560320" cy="1143000"/>
          </a:xfrm>
          <a:prstGeom prst="roundRect">
            <a:avLst>
              <a:gd name="adj" fmla="val 96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26" name="Model 6 pill shape"/>
          <p:cNvSpPr/>
          <p:nvPr/>
        </p:nvSpPr>
        <p:spPr>
          <a:xfrm>
            <a:off x="6163056" y="3401568"/>
            <a:ext cx="1554480" cy="2743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27" name="Model 6 pill"/>
          <p:cNvSpPr txBox="1"/>
          <p:nvPr/>
        </p:nvSpPr>
        <p:spPr>
          <a:xfrm>
            <a:off x="6163056" y="34015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Blend</a:t>
            </a:r>
            <a:endParaRPr lang="en-US" sz="850" dirty="0"/>
          </a:p>
        </p:txBody>
      </p:sp>
      <p:sp>
        <p:nvSpPr>
          <p:cNvPr id="28" name="Model 6 text"/>
          <p:cNvSpPr txBox="1"/>
          <p:nvPr/>
        </p:nvSpPr>
        <p:spPr>
          <a:xfrm>
            <a:off x="6163056" y="37947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</a:rPr>
              <a:t>Trung bình dự đoán Ridge + Lasso + GB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863840" y="4572000"/>
            <a:ext cx="7315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94360" y="50292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So sánh</a:t>
            </a:r>
            <a:endParaRPr lang="en-US" sz="2500" dirty="0"/>
          </a:p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mô hình</a:t>
            </a:r>
            <a:endParaRPr lang="en-US" sz="2500" dirty="0"/>
          </a:p>
        </p:txBody>
      </p:sp>
      <p:sp>
        <p:nvSpPr>
          <p:cNvPr id="4" name="Model chart card"/>
          <p:cNvSpPr/>
          <p:nvPr/>
        </p:nvSpPr>
        <p:spPr>
          <a:xfrm>
            <a:off x="548640" y="1417320"/>
            <a:ext cx="4937760" cy="3063240"/>
          </a:xfrm>
          <a:prstGeom prst="roundRect">
            <a:avLst>
              <a:gd name="adj" fmla="val 3582"/>
            </a:avLst>
          </a:prstGeom>
          <a:solidFill>
            <a:schemeClr val="bg1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5" name="Model chart heading"/>
          <p:cNvSpPr txBox="1"/>
          <p:nvPr/>
        </p:nvSpPr>
        <p:spPr>
          <a:xfrm>
            <a:off x="731520" y="15544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CV RMSE (log SalePrice), càng thấp càng tốt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1783080"/>
          <a:ext cx="475488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7" name="Isometric bar blocks" descr="Isometric bar block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548640"/>
            <a:ext cx="2834640" cy="1768945"/>
          </a:xfrm>
          <a:prstGeom prst="rect">
            <a:avLst/>
          </a:prstGeom>
        </p:spPr>
      </p:pic>
      <p:sp>
        <p:nvSpPr>
          <p:cNvPr id="8" name="Model best card"/>
          <p:cNvSpPr/>
          <p:nvPr/>
        </p:nvSpPr>
        <p:spPr>
          <a:xfrm>
            <a:off x="5760720" y="2240280"/>
            <a:ext cx="2834640" cy="109728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9" name="Model best value"/>
          <p:cNvSpPr txBox="1"/>
          <p:nvPr/>
        </p:nvSpPr>
        <p:spPr>
          <a:xfrm>
            <a:off x="5943600" y="23774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0.1113</a:t>
            </a:r>
            <a:endParaRPr lang="en-US" sz="2400" dirty="0"/>
          </a:p>
        </p:txBody>
      </p:sp>
      <p:sp>
        <p:nvSpPr>
          <p:cNvPr id="10" name="Model best label"/>
          <p:cNvSpPr txBox="1"/>
          <p:nvPr/>
        </p:nvSpPr>
        <p:spPr>
          <a:xfrm>
            <a:off x="5943600" y="30175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</a:rPr>
              <a:t>CV RMSE của Blend, tốt nhất trong 6 mô hình</a:t>
            </a:r>
            <a:endParaRPr lang="en-US" sz="900" dirty="0"/>
          </a:p>
        </p:txBody>
      </p:sp>
      <p:sp>
        <p:nvSpPr>
          <p:cNvPr id="11" name="Model eval card"/>
          <p:cNvSpPr/>
          <p:nvPr/>
        </p:nvSpPr>
        <p:spPr>
          <a:xfrm>
            <a:off x="5760720" y="3474720"/>
            <a:ext cx="283464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12" name="Model eval heading"/>
          <p:cNvSpPr txBox="1"/>
          <p:nvPr/>
        </p:nvSpPr>
        <p:spPr>
          <a:xfrm>
            <a:off x="5925312" y="3602736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Cách đánh giá</a:t>
            </a:r>
            <a:endParaRPr lang="en-US" sz="1050" dirty="0"/>
          </a:p>
        </p:txBody>
      </p:sp>
      <p:sp>
        <p:nvSpPr>
          <p:cNvPr id="13" name="Model eval body"/>
          <p:cNvSpPr txBox="1"/>
          <p:nvPr/>
        </p:nvSpPr>
        <p:spPr>
          <a:xfrm>
            <a:off x="5925312" y="3856101"/>
            <a:ext cx="2505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chemeClr val="tx2"/>
                </a:solidFill>
              </a:rPr>
              <a:t>5-fold CV (shuffle, seed 42) và tách Train/Val 80/20.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863840" y="4572000"/>
            <a:ext cx="7315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94360" y="50292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Kết quả</a:t>
            </a:r>
            <a:endParaRPr lang="en-US" sz="2500" dirty="0"/>
          </a:p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chi tiết</a:t>
            </a:r>
            <a:endParaRPr lang="en-US" sz="2500" dirty="0"/>
          </a:p>
        </p:txBody>
      </p:sp>
      <p:sp>
        <p:nvSpPr>
          <p:cNvPr id="4" name="Table card"/>
          <p:cNvSpPr/>
          <p:nvPr/>
        </p:nvSpPr>
        <p:spPr>
          <a:xfrm>
            <a:off x="548640" y="1417320"/>
            <a:ext cx="5577840" cy="288036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graphicFrame>
        <p:nvGraphicFramePr>
          <p:cNvPr id="17" name="Resul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508760"/>
          <a:ext cx="5358384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645920"/>
                <a:gridCol w="1005840"/>
                <a:gridCol w="969264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4A5578"/>
                          </a:solidFill>
                        </a:rPr>
                        <a:t>Mô hình</a:t>
                      </a:r>
                      <a:endParaRPr lang="en-US" sz="900" dirty="0"/>
                    </a:p>
                  </a:txBody>
                  <a:tcPr marL="109728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4A5578"/>
                          </a:solidFill>
                        </a:rPr>
                        <a:t>CV RMSE</a:t>
                      </a:r>
                      <a:endParaRPr lang="en-US" sz="900" dirty="0"/>
                    </a:p>
                  </a:txBody>
                  <a:tcPr marL="109728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4A5578"/>
                          </a:solidFill>
                        </a:rPr>
                        <a:t>Val RMSE</a:t>
                      </a:r>
                      <a:endParaRPr lang="en-US" sz="900" dirty="0"/>
                    </a:p>
                  </a:txBody>
                  <a:tcPr marL="109728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4A5578"/>
                          </a:solidFill>
                        </a:rPr>
                        <a:t>Val R²</a:t>
                      </a:r>
                      <a:endParaRPr lang="en-US" sz="900" dirty="0"/>
                    </a:p>
                  </a:txBody>
                  <a:tcPr marL="109728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Blend</a:t>
                      </a:r>
                      <a:endParaRPr lang="en-US" sz="1000" dirty="0"/>
                    </a:p>
                  </a:txBody>
                  <a:tcPr marL="109728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3A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0.1113</a:t>
                      </a:r>
                      <a:endParaRPr lang="en-US" sz="1000" dirty="0"/>
                    </a:p>
                  </a:txBody>
                  <a:tcPr marL="109728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3A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109728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3A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0.921</a:t>
                      </a:r>
                      <a:endParaRPr lang="en-US" sz="1000" dirty="0"/>
                    </a:p>
                  </a:txBody>
                  <a:tcPr marL="109728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3A8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161F"/>
                          </a:solidFill>
                        </a:rPr>
                        <a:t>Lasso</a:t>
                      </a:r>
                      <a:endParaRPr lang="en-US" sz="1000" dirty="0"/>
                    </a:p>
                  </a:txBody>
                  <a:tcPr marL="109728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4161F"/>
                          </a:solidFill>
                        </a:rPr>
                        <a:t>0.1133 ± 0.0082</a:t>
                      </a:r>
                      <a:endParaRPr lang="en-US" sz="1000" dirty="0"/>
                    </a:p>
                  </a:txBody>
                  <a:tcPr marL="109728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4161F"/>
                          </a:solidFill>
                        </a:rPr>
                        <a:t>0.1212</a:t>
                      </a:r>
                      <a:endParaRPr lang="en-US" sz="1000" dirty="0"/>
                    </a:p>
                  </a:txBody>
                  <a:tcPr marL="109728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4161F"/>
                          </a:solidFill>
                        </a:rPr>
                        <a:t>0.907</a:t>
                      </a:r>
                      <a:endParaRPr lang="en-US" sz="1000" dirty="0"/>
                    </a:p>
                  </a:txBody>
                  <a:tcPr marL="109728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161F"/>
                          </a:solidFill>
                        </a:rPr>
                        <a:t>Ridge</a:t>
                      </a:r>
                      <a:endParaRPr lang="en-US" sz="1000" dirty="0"/>
                    </a:p>
                  </a:txBody>
                  <a:tcPr marL="109728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4161F"/>
                          </a:solidFill>
                        </a:rPr>
                        <a:t>0.1134 ± 0.0086</a:t>
                      </a:r>
                      <a:endParaRPr lang="en-US" sz="1000" dirty="0"/>
                    </a:p>
                  </a:txBody>
                  <a:tcPr marL="109728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4161F"/>
                          </a:solidFill>
                        </a:rPr>
                        <a:t>0.1210</a:t>
                      </a:r>
                      <a:endParaRPr lang="en-US" sz="1000" dirty="0"/>
                    </a:p>
                  </a:txBody>
                  <a:tcPr marL="109728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4161F"/>
                          </a:solidFill>
                        </a:rPr>
                        <a:t>0.907</a:t>
                      </a:r>
                      <a:endParaRPr lang="en-US" sz="1000" dirty="0"/>
                    </a:p>
                  </a:txBody>
                  <a:tcPr marL="109728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161F"/>
                          </a:solidFill>
                        </a:rPr>
                        <a:t>Gradient Boosting</a:t>
                      </a:r>
                      <a:endParaRPr lang="en-US" sz="1000" dirty="0"/>
                    </a:p>
                  </a:txBody>
                  <a:tcPr marL="109728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4161F"/>
                          </a:solidFill>
                        </a:rPr>
                        <a:t>0.1205 ± 0.0083</a:t>
                      </a:r>
                      <a:endParaRPr lang="en-US" sz="1000" dirty="0"/>
                    </a:p>
                  </a:txBody>
                  <a:tcPr marL="109728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4161F"/>
                          </a:solidFill>
                        </a:rPr>
                        <a:t>0.1240</a:t>
                      </a:r>
                      <a:endParaRPr lang="en-US" sz="1000" dirty="0"/>
                    </a:p>
                  </a:txBody>
                  <a:tcPr marL="109728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4161F"/>
                          </a:solidFill>
                        </a:rPr>
                        <a:t>0.903</a:t>
                      </a:r>
                      <a:endParaRPr lang="en-US" sz="1000" dirty="0"/>
                    </a:p>
                  </a:txBody>
                  <a:tcPr marL="109728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161F"/>
                          </a:solidFill>
                        </a:rPr>
                        <a:t>Linear Regression</a:t>
                      </a:r>
                      <a:endParaRPr lang="en-US" sz="1000" dirty="0"/>
                    </a:p>
                  </a:txBody>
                  <a:tcPr marL="109728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4161F"/>
                          </a:solidFill>
                        </a:rPr>
                        <a:t>0.1249 ± 0.0048</a:t>
                      </a:r>
                      <a:endParaRPr lang="en-US" sz="1000" dirty="0"/>
                    </a:p>
                  </a:txBody>
                  <a:tcPr marL="109728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4161F"/>
                          </a:solidFill>
                        </a:rPr>
                        <a:t>0.1235</a:t>
                      </a:r>
                      <a:endParaRPr lang="en-US" sz="1000" dirty="0"/>
                    </a:p>
                  </a:txBody>
                  <a:tcPr marL="109728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4161F"/>
                          </a:solidFill>
                        </a:rPr>
                        <a:t>0.903</a:t>
                      </a:r>
                      <a:endParaRPr lang="en-US" sz="1000" dirty="0"/>
                    </a:p>
                  </a:txBody>
                  <a:tcPr marL="109728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161F"/>
                          </a:solidFill>
                        </a:rPr>
                        <a:t>Random Forest</a:t>
                      </a:r>
                      <a:endParaRPr lang="en-US" sz="1000" dirty="0"/>
                    </a:p>
                  </a:txBody>
                  <a:tcPr marL="109728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4161F"/>
                          </a:solidFill>
                        </a:rPr>
                        <a:t>0.1330 ± 0.0103</a:t>
                      </a:r>
                      <a:endParaRPr lang="en-US" sz="1000" dirty="0"/>
                    </a:p>
                  </a:txBody>
                  <a:tcPr marL="109728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4161F"/>
                          </a:solidFill>
                        </a:rPr>
                        <a:t>0.1424</a:t>
                      </a:r>
                      <a:endParaRPr lang="en-US" sz="1000" dirty="0"/>
                    </a:p>
                  </a:txBody>
                  <a:tcPr marL="109728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4161F"/>
                          </a:solidFill>
                        </a:rPr>
                        <a:t>0.872</a:t>
                      </a:r>
                      <a:endParaRPr lang="en-US" sz="1000" dirty="0"/>
                    </a:p>
                  </a:txBody>
                  <a:tcPr marL="109728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7FD"/>
                    </a:solidFill>
                  </a:tcPr>
                </a:tc>
              </a:tr>
            </a:tbl>
          </a:graphicData>
        </a:graphic>
      </p:graphicFrame>
      <p:sp>
        <p:nvSpPr>
          <p:cNvPr id="6" name="Table note"/>
          <p:cNvSpPr txBox="1"/>
          <p:nvPr/>
        </p:nvSpPr>
        <p:spPr>
          <a:xfrm>
            <a:off x="594360" y="43434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chemeClr val="accent6"/>
                </a:solidFill>
              </a:rPr>
              <a:t>Val = tách Train/Val 80/20. R² của Blend tính trên dự đoán out-of-fold nên không có Val RMSE.</a:t>
            </a:r>
            <a:endParaRPr lang="en-US" sz="800" dirty="0"/>
          </a:p>
        </p:txBody>
      </p:sp>
      <p:sp>
        <p:nvSpPr>
          <p:cNvPr id="7" name="Result rmse card"/>
          <p:cNvSpPr/>
          <p:nvPr/>
        </p:nvSpPr>
        <p:spPr>
          <a:xfrm>
            <a:off x="6400800" y="1417320"/>
            <a:ext cx="2194560" cy="13716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8" name="Result rmse value"/>
          <p:cNvSpPr txBox="1"/>
          <p:nvPr/>
        </p:nvSpPr>
        <p:spPr>
          <a:xfrm>
            <a:off x="6583680" y="1554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0.1113</a:t>
            </a:r>
            <a:endParaRPr lang="en-US" sz="2400" dirty="0"/>
          </a:p>
        </p:txBody>
      </p:sp>
      <p:sp>
        <p:nvSpPr>
          <p:cNvPr id="9" name="Result rmse label"/>
          <p:cNvSpPr txBox="1"/>
          <p:nvPr/>
        </p:nvSpPr>
        <p:spPr>
          <a:xfrm>
            <a:off x="6583680" y="2194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</a:rPr>
              <a:t>CV RMSE của Blend (log SalePrice)</a:t>
            </a:r>
            <a:endParaRPr lang="en-US" sz="900" dirty="0"/>
          </a:p>
        </p:txBody>
      </p:sp>
      <p:sp>
        <p:nvSpPr>
          <p:cNvPr id="10" name="Result r2 card"/>
          <p:cNvSpPr/>
          <p:nvPr/>
        </p:nvSpPr>
        <p:spPr>
          <a:xfrm>
            <a:off x="6400800" y="2926080"/>
            <a:ext cx="219456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11" name="Result r2 value"/>
          <p:cNvSpPr txBox="1"/>
          <p:nvPr/>
        </p:nvSpPr>
        <p:spPr>
          <a:xfrm>
            <a:off x="6583680" y="3063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0.921</a:t>
            </a:r>
            <a:endParaRPr lang="en-US" sz="2400" dirty="0"/>
          </a:p>
        </p:txBody>
      </p:sp>
      <p:sp>
        <p:nvSpPr>
          <p:cNvPr id="12" name="Result r2 label"/>
          <p:cNvSpPr txBox="1"/>
          <p:nvPr/>
        </p:nvSpPr>
        <p:spPr>
          <a:xfrm>
            <a:off x="6583680" y="3703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R² (out-of-fold) của Blend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863840" y="4572000"/>
            <a:ext cx="7315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94360" y="50292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Đặc trưng</a:t>
            </a:r>
            <a:endParaRPr lang="en-US" sz="2500" dirty="0"/>
          </a:p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quan trọng</a:t>
            </a:r>
            <a:endParaRPr lang="en-US" sz="2500" dirty="0"/>
          </a:p>
        </p:txBody>
      </p:sp>
      <p:sp>
        <p:nvSpPr>
          <p:cNvPr id="4" name="Importance chart card"/>
          <p:cNvSpPr/>
          <p:nvPr/>
        </p:nvSpPr>
        <p:spPr>
          <a:xfrm>
            <a:off x="548640" y="1417320"/>
            <a:ext cx="5120640" cy="3063240"/>
          </a:xfrm>
          <a:prstGeom prst="roundRect">
            <a:avLst>
              <a:gd name="adj" fmla="val 3582"/>
            </a:avLst>
          </a:prstGeom>
          <a:solidFill>
            <a:schemeClr val="bg1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5" name="Importance heading"/>
          <p:cNvSpPr txBox="1"/>
          <p:nvPr/>
        </p:nvSpPr>
        <p:spPr>
          <a:xfrm>
            <a:off x="731520" y="155448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Top 10 độ quan trọng (%) theo Gradient Boosting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1783080"/>
          <a:ext cx="49377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Imp top2 card"/>
          <p:cNvSpPr/>
          <p:nvPr/>
        </p:nvSpPr>
        <p:spPr>
          <a:xfrm>
            <a:off x="5943600" y="1417320"/>
            <a:ext cx="2651760" cy="1463040"/>
          </a:xfrm>
          <a:prstGeom prst="roundRect">
            <a:avLst>
              <a:gd name="adj" fmla="val 75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8" name="Imp top2 value"/>
          <p:cNvSpPr txBox="1"/>
          <p:nvPr/>
        </p:nvSpPr>
        <p:spPr>
          <a:xfrm>
            <a:off x="6126480" y="1554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66%</a:t>
            </a:r>
            <a:endParaRPr lang="en-US" sz="3000" dirty="0"/>
          </a:p>
        </p:txBody>
      </p:sp>
      <p:sp>
        <p:nvSpPr>
          <p:cNvPr id="9" name="Imp top2 label"/>
          <p:cNvSpPr txBox="1"/>
          <p:nvPr/>
        </p:nvSpPr>
        <p:spPr>
          <a:xfrm>
            <a:off x="6126480" y="21945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</a:rPr>
              <a:t>độ quan trọng đến từ TotalSF và OverallQual</a:t>
            </a:r>
            <a:endParaRPr lang="en-US" sz="900" dirty="0"/>
          </a:p>
        </p:txBody>
      </p:sp>
      <p:sp>
        <p:nvSpPr>
          <p:cNvPr id="10" name="Imp mine card"/>
          <p:cNvSpPr/>
          <p:nvPr/>
        </p:nvSpPr>
        <p:spPr>
          <a:xfrm>
            <a:off x="5943600" y="3017520"/>
            <a:ext cx="265176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11" name="Imp mine value"/>
          <p:cNvSpPr txBox="1"/>
          <p:nvPr/>
        </p:nvSpPr>
        <p:spPr>
          <a:xfrm>
            <a:off x="6126480" y="3154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4 / 10</a:t>
            </a:r>
            <a:endParaRPr lang="en-US" sz="2600" dirty="0"/>
          </a:p>
        </p:txBody>
      </p:sp>
      <p:sp>
        <p:nvSpPr>
          <p:cNvPr id="12" name="Imp mine label"/>
          <p:cNvSpPr txBox="1"/>
          <p:nvPr/>
        </p:nvSpPr>
        <p:spPr>
          <a:xfrm>
            <a:off x="6126480" y="37947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đặc trưng tự tạo (thanh hồng): TotalSF, OverallScore, TotalBath, HouseAge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863840" y="4572000"/>
            <a:ext cx="7315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94360" y="50292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Dự đoán &amp;</a:t>
            </a:r>
            <a:endParaRPr lang="en-US" sz="2500" dirty="0"/>
          </a:p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file nộp bài</a:t>
            </a:r>
            <a:endParaRPr lang="en-US" sz="2500" dirty="0"/>
          </a:p>
        </p:txBody>
      </p:sp>
      <p:sp>
        <p:nvSpPr>
          <p:cNvPr id="4" name="Pred chart card"/>
          <p:cNvSpPr/>
          <p:nvPr/>
        </p:nvSpPr>
        <p:spPr>
          <a:xfrm>
            <a:off x="548640" y="1417320"/>
            <a:ext cx="548640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pic>
        <p:nvPicPr>
          <p:cNvPr id="5" name="Predicted vs actual and residual plots" descr="Scatter of predicted vs actual log price and residua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81328"/>
            <a:ext cx="5266944" cy="2069157"/>
          </a:xfrm>
          <a:prstGeom prst="rect">
            <a:avLst/>
          </a:prstGeom>
        </p:spPr>
      </p:pic>
      <p:sp>
        <p:nvSpPr>
          <p:cNvPr id="6" name="Flow 1 shape"/>
          <p:cNvSpPr/>
          <p:nvPr/>
        </p:nvSpPr>
        <p:spPr>
          <a:xfrm>
            <a:off x="548640" y="3840480"/>
            <a:ext cx="1645920" cy="502920"/>
          </a:xfrm>
          <a:prstGeom prst="roundRect">
            <a:avLst>
              <a:gd name="adj" fmla="val 36364"/>
            </a:avLst>
          </a:prstGeom>
          <a:solidFill>
            <a:schemeClr val="bg1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7" name="Flow 1"/>
          <p:cNvSpPr txBox="1"/>
          <p:nvPr/>
        </p:nvSpPr>
        <p:spPr>
          <a:xfrm>
            <a:off x="548640" y="3840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Huấn luyện lại toàn bộ train</a:t>
            </a:r>
            <a:endParaRPr lang="en-US" sz="850" dirty="0"/>
          </a:p>
        </p:txBody>
      </p:sp>
      <p:sp>
        <p:nvSpPr>
          <p:cNvPr id="8" name="Flow arrow 1"/>
          <p:cNvSpPr txBox="1"/>
          <p:nvPr/>
        </p:nvSpPr>
        <p:spPr>
          <a:xfrm>
            <a:off x="2194560" y="384048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→</a:t>
            </a:r>
            <a:endParaRPr lang="en-US" sz="1100" dirty="0"/>
          </a:p>
        </p:txBody>
      </p:sp>
      <p:sp>
        <p:nvSpPr>
          <p:cNvPr id="9" name="Flow 2 shape"/>
          <p:cNvSpPr/>
          <p:nvPr/>
        </p:nvSpPr>
        <p:spPr>
          <a:xfrm>
            <a:off x="2468880" y="3840480"/>
            <a:ext cx="1645920" cy="502920"/>
          </a:xfrm>
          <a:prstGeom prst="roundRect">
            <a:avLst>
              <a:gd name="adj" fmla="val 36364"/>
            </a:avLst>
          </a:prstGeom>
          <a:solidFill>
            <a:schemeClr val="bg1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10" name="Flow 2"/>
          <p:cNvSpPr txBox="1"/>
          <p:nvPr/>
        </p:nvSpPr>
        <p:spPr>
          <a:xfrm>
            <a:off x="2468880" y="3840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expm1: log về đô la</a:t>
            </a:r>
            <a:endParaRPr lang="en-US" sz="850" dirty="0"/>
          </a:p>
        </p:txBody>
      </p:sp>
      <p:sp>
        <p:nvSpPr>
          <p:cNvPr id="11" name="Flow arrow 2"/>
          <p:cNvSpPr txBox="1"/>
          <p:nvPr/>
        </p:nvSpPr>
        <p:spPr>
          <a:xfrm>
            <a:off x="4114800" y="384048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→</a:t>
            </a:r>
            <a:endParaRPr lang="en-US" sz="1100" dirty="0"/>
          </a:p>
        </p:txBody>
      </p:sp>
      <p:sp>
        <p:nvSpPr>
          <p:cNvPr id="12" name="Flow 3 shape"/>
          <p:cNvSpPr/>
          <p:nvPr/>
        </p:nvSpPr>
        <p:spPr>
          <a:xfrm>
            <a:off x="4389120" y="3840480"/>
            <a:ext cx="1645920" cy="502920"/>
          </a:xfrm>
          <a:prstGeom prst="roundRect">
            <a:avLst>
              <a:gd name="adj" fmla="val 36364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13" name="Flow 3"/>
          <p:cNvSpPr txBox="1"/>
          <p:nvPr/>
        </p:nvSpPr>
        <p:spPr>
          <a:xfrm>
            <a:off x="4389120" y="3840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Xuất submission.csv</a:t>
            </a:r>
            <a:endParaRPr lang="en-US" sz="850" dirty="0"/>
          </a:p>
        </p:txBody>
      </p:sp>
      <p:sp>
        <p:nvSpPr>
          <p:cNvPr id="14" name="Pred rows card"/>
          <p:cNvSpPr/>
          <p:nvPr/>
        </p:nvSpPr>
        <p:spPr>
          <a:xfrm>
            <a:off x="6309360" y="1417320"/>
            <a:ext cx="2286000" cy="13716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15" name="Pred rows value"/>
          <p:cNvSpPr txBox="1"/>
          <p:nvPr/>
        </p:nvSpPr>
        <p:spPr>
          <a:xfrm>
            <a:off x="6492240" y="15544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1459</a:t>
            </a:r>
            <a:endParaRPr lang="en-US" sz="2800" dirty="0"/>
          </a:p>
        </p:txBody>
      </p:sp>
      <p:sp>
        <p:nvSpPr>
          <p:cNvPr id="16" name="Pred rows label"/>
          <p:cNvSpPr txBox="1"/>
          <p:nvPr/>
        </p:nvSpPr>
        <p:spPr>
          <a:xfrm>
            <a:off x="6492240" y="21945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</a:rPr>
              <a:t>dòng trong submission.csv, đúng định dạng sample_submission</a:t>
            </a:r>
            <a:endParaRPr lang="en-US" sz="900" dirty="0"/>
          </a:p>
        </p:txBody>
      </p:sp>
      <p:sp>
        <p:nvSpPr>
          <p:cNvPr id="17" name="Pred median card"/>
          <p:cNvSpPr/>
          <p:nvPr/>
        </p:nvSpPr>
        <p:spPr>
          <a:xfrm>
            <a:off x="6309360" y="2926080"/>
            <a:ext cx="228600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18" name="Pred median value"/>
          <p:cNvSpPr txBox="1"/>
          <p:nvPr/>
        </p:nvSpPr>
        <p:spPr>
          <a:xfrm>
            <a:off x="6492240" y="30632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$157,496</a:t>
            </a:r>
            <a:endParaRPr lang="en-US" sz="2000" dirty="0"/>
          </a:p>
        </p:txBody>
      </p:sp>
      <p:sp>
        <p:nvSpPr>
          <p:cNvPr id="19" name="Pred median label"/>
          <p:cNvSpPr txBox="1"/>
          <p:nvPr/>
        </p:nvSpPr>
        <p:spPr>
          <a:xfrm>
            <a:off x="6492240" y="3703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giá dự đoán trung vị, gần trung vị train ($163,000)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863840" y="4572000"/>
            <a:ext cx="7315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94360" y="50292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Kết luận &amp;</a:t>
            </a:r>
            <a:endParaRPr lang="en-US" sz="2500" dirty="0"/>
          </a:p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</a:rPr>
              <a:t>hướng phát triển</a:t>
            </a:r>
            <a:endParaRPr lang="en-US" sz="2500" dirty="0"/>
          </a:p>
        </p:txBody>
      </p:sp>
      <p:sp>
        <p:nvSpPr>
          <p:cNvPr id="4" name="Concl 1 card"/>
          <p:cNvSpPr/>
          <p:nvPr/>
        </p:nvSpPr>
        <p:spPr>
          <a:xfrm>
            <a:off x="548640" y="1508760"/>
            <a:ext cx="2560320" cy="2148840"/>
          </a:xfrm>
          <a:prstGeom prst="roundRect">
            <a:avLst>
              <a:gd name="adj" fmla="val 510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5" name="Concl 1 heading"/>
          <p:cNvSpPr txBox="1"/>
          <p:nvPr/>
        </p:nvSpPr>
        <p:spPr>
          <a:xfrm>
            <a:off x="713232" y="1636776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Kết luận</a:t>
            </a:r>
            <a:endParaRPr lang="en-US" sz="1200" dirty="0"/>
          </a:p>
        </p:txBody>
      </p:sp>
      <p:sp>
        <p:nvSpPr>
          <p:cNvPr id="6" name="Concl 1 body"/>
          <p:cNvSpPr txBox="1"/>
          <p:nvPr/>
        </p:nvSpPr>
        <p:spPr>
          <a:xfrm>
            <a:off x="713232" y="1926336"/>
            <a:ext cx="223113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bg1"/>
                </a:solidFill>
              </a:rPr>
              <a:t>Blend (Ridge + Lasso + GB) tốt nhất: CV RMSE 0.1113, R² 0.921.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bg1"/>
                </a:solidFill>
              </a:rPr>
              <a:t>TotalSF và OverallQual chi phối giá nhà.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bg1"/>
                </a:solidFill>
              </a:rPr>
              <a:t>Đặc trưng tự tạo đóng góp rõ rệt.</a:t>
            </a:r>
            <a:endParaRPr lang="en-US" sz="1050" dirty="0"/>
          </a:p>
        </p:txBody>
      </p:sp>
      <p:sp>
        <p:nvSpPr>
          <p:cNvPr id="7" name="Concl 2 card"/>
          <p:cNvSpPr/>
          <p:nvPr/>
        </p:nvSpPr>
        <p:spPr>
          <a:xfrm>
            <a:off x="3291840" y="1508760"/>
            <a:ext cx="256032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8" name="Concl 2 heading"/>
          <p:cNvSpPr txBox="1"/>
          <p:nvPr/>
        </p:nvSpPr>
        <p:spPr>
          <a:xfrm>
            <a:off x="3456432" y="1636776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Hạn chế</a:t>
            </a:r>
            <a:endParaRPr lang="en-US" sz="1200" dirty="0"/>
          </a:p>
        </p:txBody>
      </p:sp>
      <p:sp>
        <p:nvSpPr>
          <p:cNvPr id="9" name="Concl 2 body"/>
          <p:cNvSpPr txBox="1"/>
          <p:nvPr/>
        </p:nvSpPr>
        <p:spPr>
          <a:xfrm>
            <a:off x="3456432" y="1926336"/>
            <a:ext cx="223113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2"/>
                </a:solidFill>
              </a:rPr>
              <a:t>alpha của Ridge và Lasso đặt cố định.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2"/>
                </a:solidFill>
              </a:rPr>
              <a:t>Blend là trung bình đơn giản.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2"/>
                </a:solidFill>
              </a:rPr>
              <a:t>Siêu tham số GB và RF chưa tối ưu.</a:t>
            </a:r>
            <a:endParaRPr lang="en-US" sz="1050" dirty="0"/>
          </a:p>
        </p:txBody>
      </p:sp>
      <p:sp>
        <p:nvSpPr>
          <p:cNvPr id="10" name="Concl 3 card"/>
          <p:cNvSpPr/>
          <p:nvPr/>
        </p:nvSpPr>
        <p:spPr>
          <a:xfrm>
            <a:off x="6035040" y="1508760"/>
            <a:ext cx="256032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11" name="Concl 3 heading"/>
          <p:cNvSpPr txBox="1"/>
          <p:nvPr/>
        </p:nvSpPr>
        <p:spPr>
          <a:xfrm>
            <a:off x="6199632" y="1636776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Hướng phát triển</a:t>
            </a:r>
            <a:endParaRPr lang="en-US" sz="1200" dirty="0"/>
          </a:p>
        </p:txBody>
      </p:sp>
      <p:sp>
        <p:nvSpPr>
          <p:cNvPr id="12" name="Concl 3 body"/>
          <p:cNvSpPr txBox="1"/>
          <p:nvPr/>
        </p:nvSpPr>
        <p:spPr>
          <a:xfrm>
            <a:off x="6199632" y="1926336"/>
            <a:ext cx="223113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2"/>
                </a:solidFill>
              </a:rPr>
              <a:t>Dùng RidgeCV / LassoCV chọn alpha.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2"/>
                </a:solidFill>
              </a:rPr>
              <a:t>Thử XGBoost hoặc LightGBM.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2"/>
                </a:solidFill>
              </a:rPr>
              <a:t>Stacking thay cho trung bình đơn giản.</a:t>
            </a:r>
            <a:endParaRPr lang="en-US" sz="1050" dirty="0"/>
          </a:p>
        </p:txBody>
      </p:sp>
      <p:sp>
        <p:nvSpPr>
          <p:cNvPr id="13" name="Concl best shape"/>
          <p:cNvSpPr/>
          <p:nvPr/>
        </p:nvSpPr>
        <p:spPr>
          <a:xfrm>
            <a:off x="548640" y="3886200"/>
            <a:ext cx="5120640" cy="411480"/>
          </a:xfrm>
          <a:prstGeom prst="roundRect">
            <a:avLst>
              <a:gd name="adj" fmla="val 44444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14" name="Concl best"/>
          <p:cNvSpPr txBox="1"/>
          <p:nvPr/>
        </p:nvSpPr>
        <p:spPr>
          <a:xfrm>
            <a:off x="548640" y="38862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Mô hình tốt nhất: Blend  ·  CV RMSE 0.1113  ·  R² 0.921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863840" y="4572000"/>
            <a:ext cx="7315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118872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Cảm ơn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đã lắng nghe!</a:t>
            </a:r>
            <a:endParaRPr lang="en-US" sz="3400" dirty="0"/>
          </a:p>
        </p:txBody>
      </p:sp>
      <p:sp>
        <p:nvSpPr>
          <p:cNvPr id="4" name="Thanks class shape"/>
          <p:cNvSpPr/>
          <p:nvPr/>
        </p:nvSpPr>
        <p:spPr>
          <a:xfrm>
            <a:off x="640080" y="2743200"/>
            <a:ext cx="4023360" cy="384048"/>
          </a:xfrm>
          <a:prstGeom prst="roundRect">
            <a:avLst>
              <a:gd name="adj" fmla="val 47619"/>
            </a:avLst>
          </a:prstGeom>
          <a:solidFill>
            <a:schemeClr val="bg1"/>
          </a:solidFill>
          <a:ln w="9525">
            <a:solidFill>
              <a:srgbClr val="E3E9F5"/>
            </a:solidFill>
            <a:prstDash val="solid"/>
          </a:ln>
          <a:effectLst>
            <a:outerShdw sx="100000" sy="100000" kx="0" ky="0" algn="bl" rotWithShape="0" blurRad="114300" dist="25400" dir="5400000">
              <a:srgbClr val="2E3A8C">
                <a:alpha val="12000"/>
              </a:srgbClr>
            </a:outerShdw>
          </a:effectLst>
        </p:spPr>
      </p:sp>
      <p:sp>
        <p:nvSpPr>
          <p:cNvPr id="5" name="Thanks class"/>
          <p:cNvSpPr txBox="1"/>
          <p:nvPr/>
        </p:nvSpPr>
        <p:spPr>
          <a:xfrm>
            <a:off x="640080" y="27432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Lớp DCT124C3  ·  Nhóm trưởng: Trần Lê Gia Bảo</a:t>
            </a:r>
            <a:endParaRPr lang="en-US" sz="900" dirty="0"/>
          </a:p>
        </p:txBody>
      </p:sp>
      <p:sp>
        <p:nvSpPr>
          <p:cNvPr id="6" name="Thanks members"/>
          <p:cNvSpPr txBox="1"/>
          <p:nvPr/>
        </p:nvSpPr>
        <p:spPr>
          <a:xfrm>
            <a:off x="640080" y="33375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Nguyễn Thanh Tuấn  ·  Đào Hữu Tài  ·  Trần Lê Gia Bảo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Huỳnh Nhật Quang  ·  Tô Thành Nhân</a:t>
            </a:r>
            <a:endParaRPr lang="en-US" sz="950" dirty="0"/>
          </a:p>
        </p:txBody>
      </p:sp>
      <p:pic>
        <p:nvPicPr>
          <p:cNvPr id="7" name="Isometric servers and laptop" descr="Isometric servers and lapto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640080"/>
            <a:ext cx="3299735" cy="3749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863840" y="4572000"/>
            <a:ext cx="7315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sometric Navy">
  <a:themeElements>
    <a:clrScheme name="Isometric Navy">
      <a:dk1>
        <a:srgbClr val="14161F"/>
      </a:dk1>
      <a:lt1>
        <a:srgbClr val="FFFFFF"/>
      </a:lt1>
      <a:dk2>
        <a:srgbClr val="4A5578"/>
      </a:dk2>
      <a:lt2>
        <a:srgbClr val="E2EAF7"/>
      </a:lt2>
      <a:accent1>
        <a:srgbClr val="2E3A8C"/>
      </a:accent1>
      <a:accent2>
        <a:srgbClr val="7F9BE0"/>
      </a:accent2>
      <a:accent3>
        <a:srgbClr val="BFD0F5"/>
      </a:accent3>
      <a:accent4>
        <a:srgbClr val="E6217F"/>
      </a:accent4>
      <a:accent5>
        <a:srgbClr val="4B5CC4"/>
      </a:accent5>
      <a:accent6>
        <a:srgbClr val="8A94B8"/>
      </a:accent6>
      <a:hlink>
        <a:srgbClr val="2E3A8C"/>
      </a:hlink>
      <a:folHlink>
        <a:srgbClr val="7C8DB5"/>
      </a:folHlink>
    </a:clrScheme>
    <a:fontScheme name="Isometric Navy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03 - Dự đoán giá nhà Ames Housing</dc:title>
  <dc:subject>PptxGenJS Presentation</dc:subject>
  <dc:creator>Nhóm DCT124C3</dc:creator>
  <cp:lastModifiedBy>Nhóm DCT124C3</cp:lastModifiedBy>
  <cp:revision>1</cp:revision>
  <dcterms:created xsi:type="dcterms:W3CDTF">2026-10-03T10:34:27Z</dcterms:created>
  <dcterms:modified xsi:type="dcterms:W3CDTF">2026-10-03T10:34:27Z</dcterms:modified>
</cp:coreProperties>
</file>